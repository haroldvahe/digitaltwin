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webextensions/webextension1.xml" ContentType="application/vnd.ms-office.webextension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89" r:id="rId5"/>
    <p:sldId id="288" r:id="rId6"/>
    <p:sldId id="276" r:id="rId7"/>
    <p:sldId id="283" r:id="rId8"/>
    <p:sldId id="261" r:id="rId9"/>
    <p:sldId id="257" r:id="rId10"/>
    <p:sldId id="264" r:id="rId11"/>
    <p:sldId id="265" r:id="rId12"/>
    <p:sldId id="292" r:id="rId13"/>
    <p:sldId id="291" r:id="rId14"/>
    <p:sldId id="268" r:id="rId15"/>
    <p:sldId id="266" r:id="rId16"/>
    <p:sldId id="267" r:id="rId17"/>
    <p:sldId id="262" r:id="rId1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94" autoAdjust="0"/>
  </p:normalViewPr>
  <p:slideViewPr>
    <p:cSldViewPr snapToGrid="0">
      <p:cViewPr varScale="1">
        <p:scale>
          <a:sx n="70" d="100"/>
          <a:sy n="70" d="100"/>
        </p:scale>
        <p:origin x="236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80" d="100"/>
          <a:sy n="80" d="100"/>
        </p:scale>
        <p:origin x="3996" y="1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DA63CEE3-1E53-4904-B7C8-7FD6CACB5D77}" type="datetime1">
              <a:rPr lang="es-ES" smtClean="0"/>
              <a:t>17/01/2026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5C694D8B-FFEA-4204-BB22-626A8A05557B}" type="datetime1">
              <a:rPr lang="es-ES" smtClean="0"/>
              <a:pPr/>
              <a:t>17/01/2026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CC5DA344-5FA2-43F7-9D95-CA56C82B08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C5DA344-5FA2-43F7-9D95-CA56C82B080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2194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rtlCol="0" anchor="b" anchorCtr="0">
            <a:noAutofit/>
          </a:bodyPr>
          <a:lstStyle>
            <a:lvl1pPr algn="l">
              <a:defRPr lang="es-ES" sz="4400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rtlCol="0"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es-ES"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lang="es-ES"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lang="es-ES"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lang="es-ES"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17/01/2026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rtlCol="0" anchor="b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rtlCol="0" anchor="b">
            <a:noAutofit/>
          </a:bodyPr>
          <a:lstStyle>
            <a:lvl1pPr algn="l">
              <a:defRPr lang="es-ES" sz="4400"/>
            </a:lvl1pPr>
          </a:lstStyle>
          <a:p>
            <a:pPr rtl="0"/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 rtlCol="0">
            <a:noAutofit/>
          </a:bodyPr>
          <a:lstStyle>
            <a:lvl1pPr marL="0" indent="0" algn="l">
              <a:buNone/>
              <a:defRPr lang="es-ES"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lang="es-ES" sz="1800"/>
            </a:lvl1pPr>
            <a:lvl2pPr>
              <a:spcBef>
                <a:spcPts val="1000"/>
              </a:spcBef>
              <a:spcAft>
                <a:spcPts val="1500"/>
              </a:spcAft>
              <a:defRPr lang="es-ES" sz="1800"/>
            </a:lvl2pPr>
            <a:lvl3pPr>
              <a:spcBef>
                <a:spcPts val="1000"/>
              </a:spcBef>
              <a:spcAft>
                <a:spcPts val="1500"/>
              </a:spcAft>
              <a:defRPr lang="es-ES" sz="1800"/>
            </a:lvl3pPr>
            <a:lvl4pPr>
              <a:spcBef>
                <a:spcPts val="1000"/>
              </a:spcBef>
              <a:spcAft>
                <a:spcPts val="1500"/>
              </a:spcAft>
              <a:defRPr lang="es-ES" sz="1800"/>
            </a:lvl4pPr>
            <a:lvl5pPr>
              <a:spcBef>
                <a:spcPts val="1000"/>
              </a:spcBef>
              <a:spcAft>
                <a:spcPts val="15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>
              <a:ln>
                <a:noFill/>
              </a:ln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rtlCol="0" anchor="b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7" name="Marcador de contenido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es-ES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es-ES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es-ES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es-ES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es-ES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es-ES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17/01/2026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7" name="Marcador de contenido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 rtlCol="0"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lang="es-ES"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lang="es-ES"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lang="es-ES"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lang="es-ES"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6" name="Marcador de contenido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es-ES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es-ES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es-ES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17/01/2026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600"/>
            </a:lvl2pPr>
            <a:lvl3pPr>
              <a:spcBef>
                <a:spcPts val="1000"/>
              </a:spcBef>
              <a:spcAft>
                <a:spcPts val="500"/>
              </a:spcAft>
              <a:defRPr lang="es-ES" sz="1400"/>
            </a:lvl3pPr>
            <a:lvl4pPr>
              <a:spcBef>
                <a:spcPts val="1000"/>
              </a:spcBef>
              <a:spcAft>
                <a:spcPts val="500"/>
              </a:spcAft>
              <a:defRPr lang="es-ES" sz="1200"/>
            </a:lvl4pPr>
            <a:lvl5pPr>
              <a:spcBef>
                <a:spcPts val="1000"/>
              </a:spcBef>
              <a:spcAft>
                <a:spcPts val="500"/>
              </a:spcAft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17/01/2026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600"/>
            </a:lvl2pPr>
            <a:lvl3pPr>
              <a:spcBef>
                <a:spcPts val="1000"/>
              </a:spcBef>
              <a:spcAft>
                <a:spcPts val="500"/>
              </a:spcAft>
              <a:defRPr lang="es-ES" sz="1400"/>
            </a:lvl3pPr>
            <a:lvl4pPr>
              <a:spcBef>
                <a:spcPts val="1000"/>
              </a:spcBef>
              <a:spcAft>
                <a:spcPts val="500"/>
              </a:spcAft>
              <a:defRPr lang="es-ES" sz="1200"/>
            </a:lvl4pPr>
            <a:lvl5pPr>
              <a:spcBef>
                <a:spcPts val="1000"/>
              </a:spcBef>
              <a:spcAft>
                <a:spcPts val="500"/>
              </a:spcAft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 dirty="0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17/01/2026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800"/>
            </a:lvl2pPr>
            <a:lvl3pPr>
              <a:spcBef>
                <a:spcPts val="1000"/>
              </a:spcBef>
              <a:spcAft>
                <a:spcPts val="500"/>
              </a:spcAft>
              <a:defRPr lang="es-ES" sz="1800"/>
            </a:lvl3pPr>
            <a:lvl4pPr>
              <a:spcBef>
                <a:spcPts val="1000"/>
              </a:spcBef>
              <a:spcAft>
                <a:spcPts val="500"/>
              </a:spcAft>
              <a:defRPr lang="es-ES" sz="1800"/>
            </a:lvl4pPr>
            <a:lvl5pPr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600"/>
            </a:lvl2pPr>
            <a:lvl3pPr>
              <a:spcBef>
                <a:spcPts val="1000"/>
              </a:spcBef>
              <a:spcAft>
                <a:spcPts val="500"/>
              </a:spcAft>
              <a:defRPr lang="es-ES" sz="1400"/>
            </a:lvl3pPr>
            <a:lvl4pPr>
              <a:spcBef>
                <a:spcPts val="1000"/>
              </a:spcBef>
              <a:spcAft>
                <a:spcPts val="500"/>
              </a:spcAft>
              <a:defRPr lang="es-ES" sz="1200"/>
            </a:lvl4pPr>
            <a:lvl5pPr>
              <a:spcBef>
                <a:spcPts val="1000"/>
              </a:spcBef>
              <a:spcAft>
                <a:spcPts val="500"/>
              </a:spcAft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17/01/2026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17/01/2026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 rtlCol="0">
            <a:normAutofit/>
          </a:bodyPr>
          <a:lstStyle>
            <a:lvl1pPr marL="0" indent="0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rtlCol="0" anchor="b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rtlCol="0"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lang="es-ES"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lang="es-ES"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lang="es-ES"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D6D8061D-18C3-4F4F-85EF-561633F58754}" type="datetimeFigureOut">
              <a:rPr lang="es-ES" smtClean="0"/>
              <a:t>17/01/2026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000" i="1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microsoft.com/office/2011/relationships/webextension" Target="../webextensions/webextension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332" y="-592855"/>
            <a:ext cx="5826796" cy="3599727"/>
          </a:xfrm>
        </p:spPr>
        <p:txBody>
          <a:bodyPr rtlCol="0"/>
          <a:lstStyle>
            <a:defPPr>
              <a:defRPr lang="es-ES"/>
            </a:defPPr>
          </a:lstStyle>
          <a:p>
            <a:pPr>
              <a:lnSpc>
                <a:spcPct val="100000"/>
              </a:lnSpc>
            </a:pPr>
            <a:r>
              <a:rPr lang="en-US" dirty="0"/>
              <a:t>Digital Twin Project – Server Performance</a:t>
            </a:r>
            <a:endParaRPr lang="es-ES" dirty="0"/>
          </a:p>
        </p:txBody>
      </p:sp>
      <p:pic>
        <p:nvPicPr>
          <p:cNvPr id="7" name="Marcador de posición de imagen 6" descr="Vista de una ciudad con rascacielo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ítulo 8">
            <a:extLst>
              <a:ext uri="{FF2B5EF4-FFF2-40B4-BE49-F238E27FC236}">
                <a16:creationId xmlns:a16="http://schemas.microsoft.com/office/drawing/2014/main" id="{4DD3ABF4-CC26-BCB9-5E8A-CB335D570436}"/>
              </a:ext>
            </a:extLst>
          </p:cNvPr>
          <p:cNvSpPr txBox="1">
            <a:spLocks/>
          </p:cNvSpPr>
          <p:nvPr/>
        </p:nvSpPr>
        <p:spPr>
          <a:xfrm>
            <a:off x="355156" y="2503913"/>
            <a:ext cx="6109652" cy="359972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400" i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 err="1"/>
              <a:t>Course</a:t>
            </a:r>
            <a:r>
              <a:rPr lang="es-MX" sz="2400" dirty="0"/>
              <a:t>: Digital </a:t>
            </a:r>
            <a:r>
              <a:rPr lang="es-MX" sz="2400" dirty="0" err="1"/>
              <a:t>Twins</a:t>
            </a:r>
            <a:r>
              <a:rPr lang="es-MX" sz="2400" dirty="0"/>
              <a:t> (WS 2025/26)</a:t>
            </a:r>
          </a:p>
          <a:p>
            <a:r>
              <a:rPr lang="es-MX" sz="2400" dirty="0" err="1"/>
              <a:t>Montanuniversität</a:t>
            </a:r>
            <a:r>
              <a:rPr lang="es-MX" sz="2400" dirty="0"/>
              <a:t> </a:t>
            </a:r>
            <a:r>
              <a:rPr lang="es-MX" sz="2400" dirty="0" err="1"/>
              <a:t>Leoben</a:t>
            </a:r>
            <a:endParaRPr lang="es-MX" sz="2400" dirty="0"/>
          </a:p>
          <a:p>
            <a:endParaRPr lang="es-MX" sz="2400" dirty="0"/>
          </a:p>
          <a:p>
            <a:r>
              <a:rPr lang="es-MX" sz="2400" dirty="0" err="1"/>
              <a:t>Students</a:t>
            </a:r>
            <a:r>
              <a:rPr lang="es-MX" sz="2400" dirty="0"/>
              <a:t>:</a:t>
            </a:r>
          </a:p>
          <a:p>
            <a:r>
              <a:rPr lang="es-MX" sz="2400" dirty="0"/>
              <a:t>Harold Stiven Vargas H.</a:t>
            </a:r>
          </a:p>
          <a:p>
            <a:r>
              <a:rPr lang="es-MX" sz="2400" dirty="0"/>
              <a:t>Wilson Santiago Bonilla G.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dirty="0" err="1"/>
              <a:t>Index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dirty="0" err="1"/>
              <a:t>Problem</a:t>
            </a:r>
            <a:r>
              <a:rPr lang="es-MX" dirty="0"/>
              <a:t> &amp; </a:t>
            </a:r>
            <a:r>
              <a:rPr lang="es-MX" dirty="0" err="1"/>
              <a:t>Motivation</a:t>
            </a:r>
            <a:endParaRPr lang="es-ES" dirty="0"/>
          </a:p>
          <a:p>
            <a:pPr>
              <a:lnSpc>
                <a:spcPct val="110000"/>
              </a:lnSpc>
            </a:pPr>
            <a:r>
              <a:rPr lang="es-MX" dirty="0" err="1"/>
              <a:t>Physical</a:t>
            </a:r>
            <a:r>
              <a:rPr lang="es-MX" dirty="0"/>
              <a:t> </a:t>
            </a:r>
            <a:r>
              <a:rPr lang="es-MX" dirty="0" err="1"/>
              <a:t>System</a:t>
            </a:r>
            <a:r>
              <a:rPr lang="es-MX" dirty="0"/>
              <a:t> &amp; DT </a:t>
            </a:r>
            <a:r>
              <a:rPr lang="es-MX" dirty="0" err="1"/>
              <a:t>Objective</a:t>
            </a:r>
            <a:endParaRPr lang="es-MX" dirty="0"/>
          </a:p>
          <a:p>
            <a:pPr>
              <a:lnSpc>
                <a:spcPct val="110000"/>
              </a:lnSpc>
            </a:pPr>
            <a:r>
              <a:rPr lang="es-MX" dirty="0"/>
              <a:t>Data </a:t>
            </a:r>
            <a:r>
              <a:rPr lang="es-MX" dirty="0" err="1"/>
              <a:t>Sources</a:t>
            </a:r>
            <a:r>
              <a:rPr lang="es-MX" dirty="0"/>
              <a:t> &amp; Inputs</a:t>
            </a:r>
          </a:p>
          <a:p>
            <a:pPr>
              <a:lnSpc>
                <a:spcPct val="110000"/>
              </a:lnSpc>
            </a:pPr>
            <a:r>
              <a:rPr lang="es-MX" dirty="0"/>
              <a:t>Data Processing &amp; EDA</a:t>
            </a:r>
          </a:p>
          <a:p>
            <a:pPr>
              <a:lnSpc>
                <a:spcPct val="110000"/>
              </a:lnSpc>
            </a:pPr>
            <a:r>
              <a:rPr lang="es-MX" dirty="0" err="1"/>
              <a:t>Modeling</a:t>
            </a:r>
            <a:r>
              <a:rPr lang="es-MX" dirty="0"/>
              <a:t> </a:t>
            </a:r>
            <a:r>
              <a:rPr lang="es-MX" dirty="0" err="1"/>
              <a:t>Approach</a:t>
            </a:r>
            <a:endParaRPr lang="es-MX" dirty="0"/>
          </a:p>
          <a:p>
            <a:pPr>
              <a:lnSpc>
                <a:spcPct val="110000"/>
              </a:lnSpc>
            </a:pPr>
            <a:r>
              <a:rPr lang="es-MX" dirty="0"/>
              <a:t>Digital Twin </a:t>
            </a:r>
            <a:r>
              <a:rPr lang="es-MX" dirty="0" err="1"/>
              <a:t>Architecture</a:t>
            </a:r>
            <a:endParaRPr lang="es-MX" dirty="0"/>
          </a:p>
          <a:p>
            <a:pPr>
              <a:lnSpc>
                <a:spcPct val="110000"/>
              </a:lnSpc>
            </a:pPr>
            <a:r>
              <a:rPr lang="es-MX" dirty="0" err="1"/>
              <a:t>Results</a:t>
            </a:r>
            <a:r>
              <a:rPr lang="es-MX" dirty="0"/>
              <a:t> &amp; </a:t>
            </a:r>
            <a:r>
              <a:rPr lang="es-MX" dirty="0" err="1"/>
              <a:t>Visualization</a:t>
            </a:r>
            <a:endParaRPr lang="es-MX" dirty="0"/>
          </a:p>
          <a:p>
            <a:pPr>
              <a:lnSpc>
                <a:spcPct val="110000"/>
              </a:lnSpc>
            </a:pPr>
            <a:r>
              <a:rPr lang="es-MX" dirty="0"/>
              <a:t>Digital Twin </a:t>
            </a:r>
            <a:r>
              <a:rPr lang="es-MX" dirty="0" err="1"/>
              <a:t>Integration</a:t>
            </a:r>
            <a:endParaRPr lang="es-MX" dirty="0"/>
          </a:p>
          <a:p>
            <a:pPr>
              <a:lnSpc>
                <a:spcPct val="110000"/>
              </a:lnSpc>
            </a:pPr>
            <a:r>
              <a:rPr lang="es-MX" dirty="0" err="1"/>
              <a:t>Lessons</a:t>
            </a:r>
            <a:r>
              <a:rPr lang="es-MX" dirty="0"/>
              <a:t> </a:t>
            </a:r>
            <a:r>
              <a:rPr lang="es-MX" dirty="0" err="1"/>
              <a:t>Learned</a:t>
            </a:r>
            <a:endParaRPr lang="es-MX" dirty="0"/>
          </a:p>
          <a:p>
            <a:pPr>
              <a:lnSpc>
                <a:spcPct val="110000"/>
              </a:lnSpc>
            </a:pPr>
            <a:r>
              <a:rPr lang="es-MX" dirty="0" err="1"/>
              <a:t>Limitations</a:t>
            </a:r>
            <a:r>
              <a:rPr lang="es-MX" dirty="0"/>
              <a:t> &amp; </a:t>
            </a:r>
            <a:r>
              <a:rPr lang="es-MX" dirty="0" err="1"/>
              <a:t>Improvements</a:t>
            </a:r>
            <a:endParaRPr lang="es-MX" dirty="0"/>
          </a:p>
          <a:p>
            <a:pPr>
              <a:lnSpc>
                <a:spcPct val="110000"/>
              </a:lnSpc>
            </a:pPr>
            <a:r>
              <a:rPr lang="es-MX" dirty="0" err="1"/>
              <a:t>Conclusion</a:t>
            </a:r>
            <a:endParaRPr lang="es-ES" dirty="0"/>
          </a:p>
        </p:txBody>
      </p:sp>
      <p:pic>
        <p:nvPicPr>
          <p:cNvPr id="25" name="Marcador de posición de imagen 6" descr="Un horizonte urbano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6296" y="-2465873"/>
            <a:ext cx="9144000" cy="3361254"/>
          </a:xfrm>
          <a:noFill/>
        </p:spPr>
        <p:txBody>
          <a:bodyPr rtlCol="0" anchor="b"/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dirty="0" err="1"/>
              <a:t>Problem</a:t>
            </a:r>
            <a:r>
              <a:rPr lang="es-MX" dirty="0"/>
              <a:t> &amp; </a:t>
            </a:r>
            <a:r>
              <a:rPr lang="es-MX" dirty="0" err="1"/>
              <a:t>Motivation</a:t>
            </a:r>
            <a:endParaRPr lang="es-ES" dirty="0"/>
          </a:p>
        </p:txBody>
      </p:sp>
      <p:pic>
        <p:nvPicPr>
          <p:cNvPr id="17" name="Marcador de posición de imagen 16" descr="Una ciudad con edificios alto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-15240" y="6227064"/>
            <a:ext cx="12207240" cy="630936"/>
          </a:xfr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1742649-5624-A85D-1386-1734BD853F43}"/>
              </a:ext>
            </a:extLst>
          </p:cNvPr>
          <p:cNvSpPr txBox="1">
            <a:spLocks/>
          </p:cNvSpPr>
          <p:nvPr/>
        </p:nvSpPr>
        <p:spPr>
          <a:xfrm>
            <a:off x="1810512" y="1545336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Modern servers </a:t>
            </a:r>
            <a:r>
              <a:rPr lang="es-MX" dirty="0" err="1"/>
              <a:t>operate</a:t>
            </a:r>
            <a:r>
              <a:rPr lang="es-MX" dirty="0"/>
              <a:t> </a:t>
            </a:r>
            <a:r>
              <a:rPr lang="es-MX" dirty="0" err="1"/>
              <a:t>under</a:t>
            </a:r>
            <a:r>
              <a:rPr lang="es-MX" dirty="0"/>
              <a:t> </a:t>
            </a:r>
            <a:r>
              <a:rPr lang="es-MX" dirty="0" err="1"/>
              <a:t>varying</a:t>
            </a:r>
            <a:r>
              <a:rPr lang="es-MX" dirty="0"/>
              <a:t> </a:t>
            </a:r>
            <a:r>
              <a:rPr lang="es-MX" dirty="0" err="1"/>
              <a:t>workloads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 err="1"/>
              <a:t>Traditional</a:t>
            </a:r>
            <a:r>
              <a:rPr lang="es-MX" dirty="0"/>
              <a:t> </a:t>
            </a:r>
            <a:r>
              <a:rPr lang="es-MX" dirty="0" err="1"/>
              <a:t>monitoring</a:t>
            </a:r>
            <a:r>
              <a:rPr lang="es-MX" dirty="0"/>
              <a:t> </a:t>
            </a:r>
            <a:r>
              <a:rPr lang="es-MX" dirty="0" err="1"/>
              <a:t>tools</a:t>
            </a:r>
            <a:r>
              <a:rPr lang="es-MX" dirty="0"/>
              <a:t> </a:t>
            </a:r>
            <a:r>
              <a:rPr lang="es-MX" dirty="0" err="1"/>
              <a:t>provide</a:t>
            </a:r>
            <a:r>
              <a:rPr lang="es-MX" dirty="0"/>
              <a:t> </a:t>
            </a:r>
            <a:r>
              <a:rPr lang="es-MX" dirty="0" err="1"/>
              <a:t>metrics</a:t>
            </a:r>
            <a:r>
              <a:rPr lang="es-MX" dirty="0"/>
              <a:t> </a:t>
            </a:r>
            <a:r>
              <a:rPr lang="es-MX" dirty="0" err="1"/>
              <a:t>but</a:t>
            </a:r>
            <a:r>
              <a:rPr lang="es-MX" dirty="0"/>
              <a:t> </a:t>
            </a:r>
            <a:r>
              <a:rPr lang="es-MX" dirty="0" err="1"/>
              <a:t>lack</a:t>
            </a:r>
            <a:r>
              <a:rPr lang="es-MX" dirty="0"/>
              <a:t> </a:t>
            </a:r>
            <a:r>
              <a:rPr lang="es-MX" dirty="0" err="1"/>
              <a:t>system</a:t>
            </a:r>
            <a:r>
              <a:rPr lang="es-MX" dirty="0"/>
              <a:t> </a:t>
            </a:r>
            <a:r>
              <a:rPr lang="es-MX" dirty="0" err="1"/>
              <a:t>understanding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 err="1"/>
              <a:t>This</a:t>
            </a:r>
            <a:r>
              <a:rPr lang="es-MX" dirty="0"/>
              <a:t> </a:t>
            </a:r>
            <a:r>
              <a:rPr lang="es-MX" dirty="0" err="1"/>
              <a:t>project</a:t>
            </a:r>
            <a:r>
              <a:rPr lang="es-MX" dirty="0"/>
              <a:t> </a:t>
            </a:r>
            <a:r>
              <a:rPr lang="es-MX" dirty="0" err="1"/>
              <a:t>develops</a:t>
            </a:r>
            <a:r>
              <a:rPr lang="es-MX" dirty="0"/>
              <a:t> a Digital Twin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mirror</a:t>
            </a:r>
            <a:r>
              <a:rPr lang="es-MX" dirty="0"/>
              <a:t> and </a:t>
            </a:r>
            <a:r>
              <a:rPr lang="es-MX" dirty="0" err="1"/>
              <a:t>analyze</a:t>
            </a:r>
            <a:r>
              <a:rPr lang="es-MX" dirty="0"/>
              <a:t> server </a:t>
            </a:r>
            <a:r>
              <a:rPr lang="es-MX" dirty="0" err="1"/>
              <a:t>behavior</a:t>
            </a:r>
            <a:r>
              <a:rPr lang="es-MX" dirty="0"/>
              <a:t> </a:t>
            </a:r>
            <a:r>
              <a:rPr lang="es-MX" dirty="0" err="1"/>
              <a:t>using</a:t>
            </a:r>
            <a:r>
              <a:rPr lang="es-MX" dirty="0"/>
              <a:t> </a:t>
            </a:r>
            <a:r>
              <a:rPr lang="es-MX" dirty="0" err="1"/>
              <a:t>internal</a:t>
            </a:r>
            <a:r>
              <a:rPr lang="es-MX" dirty="0"/>
              <a:t> </a:t>
            </a:r>
            <a:r>
              <a:rPr lang="es-MX" dirty="0" err="1"/>
              <a:t>telemetry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312" y="182880"/>
            <a:ext cx="10196640" cy="948088"/>
          </a:xfr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sz="4300" dirty="0" err="1"/>
              <a:t>Physical</a:t>
            </a:r>
            <a:r>
              <a:rPr lang="es-MX" sz="4300" dirty="0"/>
              <a:t> </a:t>
            </a:r>
            <a:r>
              <a:rPr lang="es-MX" sz="4300" dirty="0" err="1"/>
              <a:t>System</a:t>
            </a:r>
            <a:r>
              <a:rPr lang="es-MX" sz="4300" dirty="0"/>
              <a:t> &amp; DT </a:t>
            </a:r>
            <a:r>
              <a:rPr lang="es-MX" sz="4300" dirty="0" err="1"/>
              <a:t>Objective</a:t>
            </a:r>
            <a:endParaRPr lang="es-MX" sz="4300" dirty="0"/>
          </a:p>
        </p:txBody>
      </p:sp>
      <p:pic>
        <p:nvPicPr>
          <p:cNvPr id="43" name="Marcador de posición de imagen 42" descr="Un avión sobrevolando una ciudad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>
          <a:xfrm>
            <a:off x="10588752" y="-11576"/>
            <a:ext cx="1614823" cy="690372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6A0422-78ED-65D4-4953-234BD413E3C4}"/>
              </a:ext>
            </a:extLst>
          </p:cNvPr>
          <p:cNvSpPr txBox="1">
            <a:spLocks/>
          </p:cNvSpPr>
          <p:nvPr/>
        </p:nvSpPr>
        <p:spPr>
          <a:xfrm>
            <a:off x="1316736" y="1938528"/>
            <a:ext cx="941832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18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400" dirty="0" err="1"/>
              <a:t>Physical</a:t>
            </a:r>
            <a:r>
              <a:rPr lang="es-MX" sz="2400" dirty="0"/>
              <a:t> </a:t>
            </a:r>
            <a:r>
              <a:rPr lang="es-MX" sz="2400" dirty="0" err="1"/>
              <a:t>system</a:t>
            </a:r>
            <a:r>
              <a:rPr lang="es-MX" sz="2400" dirty="0"/>
              <a:t>: A </a:t>
            </a:r>
            <a:r>
              <a:rPr lang="es-MX" sz="2400" dirty="0" err="1"/>
              <a:t>computing</a:t>
            </a:r>
            <a:r>
              <a:rPr lang="es-MX" sz="2400" dirty="0"/>
              <a:t> </a:t>
            </a:r>
            <a:r>
              <a:rPr lang="es-MX" sz="2400" dirty="0" err="1"/>
              <a:t>node</a:t>
            </a:r>
            <a:r>
              <a:rPr lang="es-MX" sz="2400" dirty="0"/>
              <a:t> (PC/server).</a:t>
            </a:r>
          </a:p>
          <a:p>
            <a:endParaRPr lang="es-MX" sz="2400" dirty="0"/>
          </a:p>
          <a:p>
            <a:r>
              <a:rPr lang="es-MX" sz="2400" dirty="0" err="1"/>
              <a:t>Objective</a:t>
            </a:r>
            <a:r>
              <a:rPr lang="es-MX" sz="2400" dirty="0"/>
              <a:t>: </a:t>
            </a:r>
            <a:r>
              <a:rPr lang="es-MX" sz="2400" dirty="0" err="1"/>
              <a:t>Create</a:t>
            </a:r>
            <a:r>
              <a:rPr lang="es-MX" sz="2400" dirty="0"/>
              <a:t> a </a:t>
            </a:r>
            <a:r>
              <a:rPr lang="es-MX" sz="2400" dirty="0" err="1"/>
              <a:t>diagnostic</a:t>
            </a:r>
            <a:r>
              <a:rPr lang="es-MX" sz="2400" dirty="0"/>
              <a:t> Digital Twin </a:t>
            </a:r>
            <a:r>
              <a:rPr lang="es-MX" sz="2400" dirty="0" err="1"/>
              <a:t>to</a:t>
            </a:r>
            <a:r>
              <a:rPr lang="es-MX" sz="2400" dirty="0"/>
              <a:t> observe, </a:t>
            </a:r>
            <a:r>
              <a:rPr lang="es-MX" sz="2400" dirty="0" err="1"/>
              <a:t>analyze</a:t>
            </a:r>
            <a:r>
              <a:rPr lang="es-MX" sz="2400" dirty="0"/>
              <a:t>, and </a:t>
            </a:r>
            <a:r>
              <a:rPr lang="es-MX" sz="2400" dirty="0" err="1"/>
              <a:t>understand</a:t>
            </a:r>
            <a:r>
              <a:rPr lang="es-MX" sz="2400" dirty="0"/>
              <a:t> </a:t>
            </a:r>
            <a:r>
              <a:rPr lang="es-MX" sz="2400" dirty="0" err="1"/>
              <a:t>system</a:t>
            </a:r>
            <a:r>
              <a:rPr lang="es-MX" sz="2400" dirty="0"/>
              <a:t> performance </a:t>
            </a:r>
            <a:r>
              <a:rPr lang="es-MX" sz="2400" dirty="0" err="1"/>
              <a:t>dynamics</a:t>
            </a:r>
            <a:r>
              <a:rPr lang="es-MX" sz="2400" dirty="0"/>
              <a:t>.</a:t>
            </a:r>
          </a:p>
          <a:p>
            <a:endParaRPr lang="es-MX" sz="2400" dirty="0"/>
          </a:p>
          <a:p>
            <a:r>
              <a:rPr lang="es-MX" sz="2400" dirty="0"/>
              <a:t>Focus </a:t>
            </a:r>
            <a:r>
              <a:rPr lang="es-MX" sz="2400" dirty="0" err="1"/>
              <a:t>is</a:t>
            </a:r>
            <a:r>
              <a:rPr lang="es-MX" sz="2400" dirty="0"/>
              <a:t> </a:t>
            </a:r>
            <a:r>
              <a:rPr lang="es-MX" sz="2400" dirty="0" err="1"/>
              <a:t>diagnostic</a:t>
            </a:r>
            <a:r>
              <a:rPr lang="es-MX" sz="2400" dirty="0"/>
              <a:t> and </a:t>
            </a:r>
            <a:r>
              <a:rPr lang="es-MX" sz="2400" dirty="0" err="1"/>
              <a:t>analytical</a:t>
            </a:r>
            <a:r>
              <a:rPr lang="es-MX" sz="2400" dirty="0"/>
              <a:t>, </a:t>
            </a:r>
            <a:r>
              <a:rPr lang="es-MX" sz="2400" dirty="0" err="1"/>
              <a:t>not</a:t>
            </a:r>
            <a:r>
              <a:rPr lang="es-MX" sz="2400" dirty="0"/>
              <a:t> control.</a:t>
            </a:r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181" y="209217"/>
            <a:ext cx="5841395" cy="657416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dirty="0"/>
              <a:t>Data </a:t>
            </a:r>
            <a:r>
              <a:rPr lang="es-MX" dirty="0" err="1"/>
              <a:t>Sources</a:t>
            </a:r>
            <a:r>
              <a:rPr lang="es-MX" dirty="0"/>
              <a:t> &amp; Inputs</a:t>
            </a:r>
          </a:p>
        </p:txBody>
      </p:sp>
      <p:pic>
        <p:nvPicPr>
          <p:cNvPr id="24" name="Marcador de posición de imagen 7" descr="Vista hacia arriba de edificios alto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49" t="61" b="61"/>
          <a:stretch>
            <a:fillRect/>
          </a:stretch>
        </p:blipFill>
        <p:spPr>
          <a:xfrm>
            <a:off x="0" y="-22860"/>
            <a:ext cx="1041916" cy="6903720"/>
          </a:xfrm>
          <a:noFill/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FDF9DB-E468-BBC5-B8E4-8B9977233154}"/>
              </a:ext>
            </a:extLst>
          </p:cNvPr>
          <p:cNvSpPr txBox="1">
            <a:spLocks/>
          </p:cNvSpPr>
          <p:nvPr/>
        </p:nvSpPr>
        <p:spPr>
          <a:xfrm>
            <a:off x="1981200" y="1591056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System telemetry collected using </a:t>
            </a:r>
            <a:r>
              <a:rPr lang="en-US" dirty="0" err="1"/>
              <a:t>psutil</a:t>
            </a:r>
            <a:r>
              <a:rPr lang="en-US" dirty="0"/>
              <a:t>:</a:t>
            </a:r>
          </a:p>
          <a:p>
            <a:r>
              <a:rPr lang="en-US" dirty="0"/>
              <a:t>• CPU utilization</a:t>
            </a:r>
          </a:p>
          <a:p>
            <a:r>
              <a:rPr lang="en-US" dirty="0"/>
              <a:t>• Memory usage</a:t>
            </a:r>
          </a:p>
          <a:p>
            <a:r>
              <a:rPr lang="en-US" dirty="0"/>
              <a:t>• Disk I/O</a:t>
            </a:r>
          </a:p>
          <a:p>
            <a:r>
              <a:rPr lang="en-US" dirty="0"/>
              <a:t>• Network activity</a:t>
            </a:r>
          </a:p>
          <a:p>
            <a:r>
              <a:rPr lang="en-US" dirty="0"/>
              <a:t>• Process count</a:t>
            </a:r>
          </a:p>
          <a:p>
            <a:endParaRPr lang="en-US" dirty="0"/>
          </a:p>
          <a:p>
            <a:r>
              <a:rPr lang="en-US" dirty="0"/>
              <a:t>Time-series data sampled every second.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-2223498"/>
            <a:ext cx="9540240" cy="3136738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dirty="0"/>
              <a:t>Data Processing &amp; EDA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141A0C-1A4F-7572-FBA2-C63F57B87BAA}"/>
              </a:ext>
            </a:extLst>
          </p:cNvPr>
          <p:cNvSpPr txBox="1">
            <a:spLocks/>
          </p:cNvSpPr>
          <p:nvPr/>
        </p:nvSpPr>
        <p:spPr>
          <a:xfrm>
            <a:off x="1719072" y="173736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18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b="0">
                <a:solidFill>
                  <a:schemeClr val="tx1"/>
                </a:solidFill>
              </a:rPr>
              <a:t>Data cleaning:</a:t>
            </a:r>
          </a:p>
          <a:p>
            <a:pPr algn="l"/>
            <a:r>
              <a:rPr lang="es-MX" b="0">
                <a:solidFill>
                  <a:schemeClr val="tx1"/>
                </a:solidFill>
              </a:rPr>
              <a:t>• Handling missing values</a:t>
            </a:r>
          </a:p>
          <a:p>
            <a:pPr algn="l"/>
            <a:r>
              <a:rPr lang="es-MX" b="0">
                <a:solidFill>
                  <a:schemeClr val="tx1"/>
                </a:solidFill>
              </a:rPr>
              <a:t>• Time alignment</a:t>
            </a:r>
          </a:p>
          <a:p>
            <a:pPr algn="l"/>
            <a:r>
              <a:rPr lang="es-MX" b="0">
                <a:solidFill>
                  <a:schemeClr val="tx1"/>
                </a:solidFill>
              </a:rPr>
              <a:t>• Resampling to minute-level</a:t>
            </a:r>
          </a:p>
          <a:p>
            <a:pPr algn="l"/>
            <a:endParaRPr lang="es-MX" b="0">
              <a:solidFill>
                <a:schemeClr val="tx1"/>
              </a:solidFill>
            </a:endParaRPr>
          </a:p>
          <a:p>
            <a:pPr algn="l"/>
            <a:r>
              <a:rPr lang="es-MX" b="0">
                <a:solidFill>
                  <a:schemeClr val="tx1"/>
                </a:solidFill>
              </a:rPr>
              <a:t>EDA revealed:</a:t>
            </a:r>
          </a:p>
          <a:p>
            <a:pPr algn="l"/>
            <a:r>
              <a:rPr lang="es-MX" b="0">
                <a:solidFill>
                  <a:schemeClr val="tx1"/>
                </a:solidFill>
              </a:rPr>
              <a:t>• Load-driven spikes</a:t>
            </a:r>
          </a:p>
          <a:p>
            <a:pPr algn="l"/>
            <a:r>
              <a:rPr lang="es-MX" b="0">
                <a:solidFill>
                  <a:schemeClr val="tx1"/>
                </a:solidFill>
              </a:rPr>
              <a:t>• Disk saturation patterns</a:t>
            </a:r>
          </a:p>
          <a:p>
            <a:pPr algn="l"/>
            <a:r>
              <a:rPr lang="es-MX" b="0">
                <a:solidFill>
                  <a:schemeClr val="tx1"/>
                </a:solidFill>
              </a:rPr>
              <a:t>• Correlated CPU–disk events</a:t>
            </a:r>
            <a:endParaRPr lang="es-MX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61" y="-293398"/>
            <a:ext cx="10515600" cy="1325563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dirty="0" err="1"/>
              <a:t>Modeling</a:t>
            </a:r>
            <a:r>
              <a:rPr lang="es-MX" dirty="0"/>
              <a:t> </a:t>
            </a:r>
            <a:r>
              <a:rPr lang="es-MX" dirty="0" err="1"/>
              <a:t>Approach</a:t>
            </a:r>
            <a:endParaRPr lang="es-MX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6F3CE1-107C-B25E-0E33-AF8633FBA508}"/>
              </a:ext>
            </a:extLst>
          </p:cNvPr>
          <p:cNvSpPr txBox="1">
            <a:spLocks/>
          </p:cNvSpPr>
          <p:nvPr/>
        </p:nvSpPr>
        <p:spPr>
          <a:xfrm>
            <a:off x="978408" y="1379637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State-based analytical model.</a:t>
            </a:r>
          </a:p>
          <a:p>
            <a:endParaRPr lang="en-US" sz="2400" dirty="0"/>
          </a:p>
          <a:p>
            <a:r>
              <a:rPr lang="en-US" sz="2400" dirty="0"/>
              <a:t>System states:</a:t>
            </a:r>
          </a:p>
          <a:p>
            <a:r>
              <a:rPr lang="en-US" sz="2400" dirty="0"/>
              <a:t>• Idle</a:t>
            </a:r>
          </a:p>
          <a:p>
            <a:r>
              <a:rPr lang="en-US" sz="2400" dirty="0"/>
              <a:t>• Moderate load</a:t>
            </a:r>
          </a:p>
          <a:p>
            <a:r>
              <a:rPr lang="en-US" sz="2400" dirty="0"/>
              <a:t>• High load</a:t>
            </a:r>
          </a:p>
          <a:p>
            <a:endParaRPr lang="en-US" sz="2400" dirty="0"/>
          </a:p>
          <a:p>
            <a:r>
              <a:rPr lang="en-US" sz="2400" dirty="0"/>
              <a:t>Transitions observed empirically from telemetry patterns.</a:t>
            </a:r>
          </a:p>
          <a:p>
            <a:endParaRPr lang="en-US" sz="2400" dirty="0"/>
          </a:p>
          <a:p>
            <a:r>
              <a:rPr lang="en-US" sz="2400" dirty="0"/>
              <a:t>Chosen for interpretability and DT integration.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-384683"/>
            <a:ext cx="10515600" cy="1325563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dirty="0"/>
              <a:t>Digital Twin </a:t>
            </a:r>
            <a:r>
              <a:rPr lang="es-MX" dirty="0" err="1"/>
              <a:t>Architecture</a:t>
            </a:r>
            <a:endParaRPr lang="es-MX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803D7F-1B83-3A57-A911-29464DB5A2EA}"/>
              </a:ext>
            </a:extLst>
          </p:cNvPr>
          <p:cNvSpPr txBox="1">
            <a:spLocks/>
          </p:cNvSpPr>
          <p:nvPr/>
        </p:nvSpPr>
        <p:spPr>
          <a:xfrm>
            <a:off x="1490472" y="1938528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 err="1"/>
              <a:t>Physical</a:t>
            </a:r>
            <a:r>
              <a:rPr lang="es-MX" dirty="0"/>
              <a:t> </a:t>
            </a:r>
            <a:r>
              <a:rPr lang="es-MX" dirty="0" err="1"/>
              <a:t>system</a:t>
            </a:r>
            <a:r>
              <a:rPr lang="es-MX" dirty="0"/>
              <a:t> → </a:t>
            </a:r>
            <a:r>
              <a:rPr lang="es-MX" dirty="0" err="1"/>
              <a:t>Sensors</a:t>
            </a:r>
            <a:r>
              <a:rPr lang="es-MX" dirty="0"/>
              <a:t> → Data </a:t>
            </a:r>
            <a:r>
              <a:rPr lang="es-MX" dirty="0" err="1"/>
              <a:t>preprocessing</a:t>
            </a:r>
            <a:r>
              <a:rPr lang="es-MX" dirty="0"/>
              <a:t> → </a:t>
            </a:r>
            <a:r>
              <a:rPr lang="es-MX" dirty="0" err="1"/>
              <a:t>State</a:t>
            </a:r>
            <a:r>
              <a:rPr lang="es-MX" dirty="0"/>
              <a:t> </a:t>
            </a:r>
            <a:r>
              <a:rPr lang="es-MX" dirty="0" err="1"/>
              <a:t>model</a:t>
            </a:r>
            <a:r>
              <a:rPr lang="es-MX" dirty="0"/>
              <a:t> → </a:t>
            </a:r>
            <a:r>
              <a:rPr lang="es-MX" dirty="0" err="1"/>
              <a:t>Indicators</a:t>
            </a:r>
            <a:endParaRPr lang="es-MX" dirty="0"/>
          </a:p>
          <a:p>
            <a:endParaRPr lang="es-MX" dirty="0"/>
          </a:p>
          <a:p>
            <a:r>
              <a:rPr lang="es-MX" dirty="0" err="1"/>
              <a:t>Feedback</a:t>
            </a:r>
            <a:r>
              <a:rPr lang="es-MX" dirty="0"/>
              <a:t> </a:t>
            </a:r>
            <a:r>
              <a:rPr lang="es-MX" dirty="0" err="1"/>
              <a:t>loop</a:t>
            </a:r>
            <a:r>
              <a:rPr lang="es-MX" dirty="0"/>
              <a:t> </a:t>
            </a:r>
            <a:r>
              <a:rPr lang="es-MX" dirty="0" err="1"/>
              <a:t>enables</a:t>
            </a:r>
            <a:r>
              <a:rPr lang="es-MX" dirty="0"/>
              <a:t> </a:t>
            </a:r>
            <a:r>
              <a:rPr lang="es-MX" dirty="0" err="1"/>
              <a:t>comparison</a:t>
            </a:r>
            <a:r>
              <a:rPr lang="es-MX" dirty="0"/>
              <a:t> </a:t>
            </a:r>
            <a:r>
              <a:rPr lang="es-MX" dirty="0" err="1"/>
              <a:t>between</a:t>
            </a:r>
            <a:r>
              <a:rPr lang="es-MX" dirty="0"/>
              <a:t> real </a:t>
            </a:r>
            <a:r>
              <a:rPr lang="es-MX" dirty="0" err="1"/>
              <a:t>system</a:t>
            </a:r>
            <a:r>
              <a:rPr lang="es-MX" dirty="0"/>
              <a:t> and </a:t>
            </a:r>
            <a:r>
              <a:rPr lang="es-MX" dirty="0" err="1"/>
              <a:t>twin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 err="1"/>
              <a:t>Architecture</a:t>
            </a:r>
            <a:r>
              <a:rPr lang="es-MX" dirty="0"/>
              <a:t> </a:t>
            </a:r>
            <a:r>
              <a:rPr lang="es-MX" dirty="0" err="1"/>
              <a:t>supports</a:t>
            </a:r>
            <a:r>
              <a:rPr lang="es-MX" dirty="0"/>
              <a:t> </a:t>
            </a:r>
            <a:r>
              <a:rPr lang="es-MX" dirty="0" err="1"/>
              <a:t>monitoring</a:t>
            </a:r>
            <a:r>
              <a:rPr lang="es-MX" dirty="0"/>
              <a:t> and diagnosis.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dd-in_Banner">
            <a:extLst>
              <a:ext uri="{FF2B5EF4-FFF2-40B4-BE49-F238E27FC236}">
                <a16:creationId xmlns:a16="http://schemas.microsoft.com/office/drawing/2014/main" id="{3A30FB22-F368-4CB2-D391-EC21745707D5}"/>
              </a:ext>
            </a:extLst>
          </p:cNvPr>
          <p:cNvSpPr txBox="1">
            <a:spLocks/>
          </p:cNvSpPr>
          <p:nvPr/>
        </p:nvSpPr>
        <p:spPr>
          <a:xfrm>
            <a:off x="-493776" y="945499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3600" i="1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Add-in_Icon" descr="Icono de Microsoft Power BI.">
            <a:extLst>
              <a:ext uri="{FF2B5EF4-FFF2-40B4-BE49-F238E27FC236}">
                <a16:creationId xmlns:a16="http://schemas.microsoft.com/office/drawing/2014/main" id="{925F527C-0053-D686-AAEA-6F2B90C4724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293751" y="1120023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7" name="Add-in" descr="Contenido de complemento para Microsoft Power BI.">
                <a:extLst>
                  <a:ext uri="{FF2B5EF4-FFF2-40B4-BE49-F238E27FC236}">
                    <a16:creationId xmlns:a16="http://schemas.microsoft.com/office/drawing/2014/main" id="{7451A9BC-A222-E697-B28C-B1BF2517B1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6306045"/>
                  </p:ext>
                </p:extLst>
              </p:nvPr>
            </p:nvGraphicFramePr>
            <p:xfrm>
              <a:off x="3218689" y="945499"/>
              <a:ext cx="8973312" cy="54513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7" name="Add-in" descr="Contenido de complemento para Microsoft Power BI.">
                <a:extLst>
                  <a:ext uri="{FF2B5EF4-FFF2-40B4-BE49-F238E27FC236}">
                    <a16:creationId xmlns:a16="http://schemas.microsoft.com/office/drawing/2014/main" id="{7451A9BC-A222-E697-B28C-B1BF2517B1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8689" y="945499"/>
                <a:ext cx="8973312" cy="545137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3638BE6-32FE-8516-CBD9-008470A92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1709684"/>
            <a:ext cx="2304288" cy="4038657"/>
          </a:xfrm>
        </p:spPr>
        <p:txBody>
          <a:bodyPr/>
          <a:lstStyle/>
          <a:p>
            <a:r>
              <a:rPr dirty="0"/>
              <a:t>Power BI dashboard visualizes:</a:t>
            </a:r>
          </a:p>
          <a:p>
            <a:r>
              <a:rPr dirty="0"/>
              <a:t>• Resource utilization over time</a:t>
            </a:r>
          </a:p>
          <a:p>
            <a:r>
              <a:rPr dirty="0"/>
              <a:t>• Peak events</a:t>
            </a:r>
          </a:p>
          <a:p>
            <a:r>
              <a:rPr dirty="0"/>
              <a:t>• System state evolution</a:t>
            </a:r>
          </a:p>
          <a:p>
            <a:endParaRPr dirty="0"/>
          </a:p>
          <a:p>
            <a:r>
              <a:rPr dirty="0"/>
              <a:t>Used for monitoring and diagnostic insight.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45BA989-B814-A028-1F5D-E087C89D3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897" y="-503734"/>
            <a:ext cx="6645965" cy="1325563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dirty="0" err="1"/>
              <a:t>Results</a:t>
            </a:r>
            <a:r>
              <a:rPr lang="es-MX" dirty="0"/>
              <a:t> &amp; </a:t>
            </a:r>
            <a:r>
              <a:rPr lang="es-MX" dirty="0" err="1"/>
              <a:t>Visualization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12581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27FA530-B6C4-B481-2DA1-9282F2E15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39" y="437983"/>
            <a:ext cx="10611553" cy="55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50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637" y="-202122"/>
            <a:ext cx="10330405" cy="1325563"/>
          </a:xfr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dirty="0"/>
              <a:t>Digital Twin </a:t>
            </a:r>
            <a:r>
              <a:rPr lang="es-MX" dirty="0" err="1"/>
              <a:t>Integration</a:t>
            </a:r>
            <a:endParaRPr lang="es-MX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552838-2C5F-EFB0-D4A2-381DDAB58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472" y="152704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sz="2400" dirty="0"/>
              <a:t>Inputs:</a:t>
            </a:r>
          </a:p>
          <a:p>
            <a:r>
              <a:rPr sz="2400" dirty="0"/>
              <a:t>• Real-time telemetry</a:t>
            </a:r>
          </a:p>
          <a:p>
            <a:r>
              <a:rPr sz="2400" dirty="0"/>
              <a:t>• Historical datasets</a:t>
            </a:r>
          </a:p>
          <a:p>
            <a:endParaRPr sz="2400" dirty="0"/>
          </a:p>
          <a:p>
            <a:r>
              <a:rPr sz="2400" dirty="0"/>
              <a:t>Outputs:</a:t>
            </a:r>
          </a:p>
          <a:p>
            <a:r>
              <a:rPr sz="2400" dirty="0"/>
              <a:t>• System state</a:t>
            </a:r>
          </a:p>
          <a:p>
            <a:r>
              <a:rPr sz="2400" dirty="0"/>
              <a:t>• Performance indicators</a:t>
            </a:r>
          </a:p>
          <a:p>
            <a:r>
              <a:rPr sz="2400" dirty="0"/>
              <a:t>• Diagnostic insights</a:t>
            </a:r>
          </a:p>
          <a:p>
            <a:endParaRPr sz="2400" dirty="0"/>
          </a:p>
          <a:p>
            <a:r>
              <a:rPr sz="2400" dirty="0"/>
              <a:t>Twin updated continuously.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427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dirty="0" err="1"/>
              <a:t>Lessons</a:t>
            </a:r>
            <a:r>
              <a:rPr lang="es-MX" dirty="0"/>
              <a:t> </a:t>
            </a:r>
            <a:r>
              <a:rPr lang="es-MX" dirty="0" err="1"/>
              <a:t>Learned</a:t>
            </a:r>
            <a:endParaRPr lang="es-MX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41E876-45D7-2082-BD4B-3A88D70215FE}"/>
              </a:ext>
            </a:extLst>
          </p:cNvPr>
          <p:cNvSpPr txBox="1">
            <a:spLocks/>
          </p:cNvSpPr>
          <p:nvPr/>
        </p:nvSpPr>
        <p:spPr>
          <a:xfrm>
            <a:off x="1005840" y="1627632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What worked:</a:t>
            </a:r>
          </a:p>
          <a:p>
            <a:r>
              <a:rPr lang="en-US"/>
              <a:t>• Controlled workload experiments</a:t>
            </a:r>
          </a:p>
          <a:p>
            <a:r>
              <a:rPr lang="en-US"/>
              <a:t>• Time-series analysis</a:t>
            </a:r>
          </a:p>
          <a:p>
            <a:r>
              <a:rPr lang="en-US"/>
              <a:t>• Dashboard-based monitoring</a:t>
            </a:r>
          </a:p>
          <a:p>
            <a:endParaRPr lang="en-US"/>
          </a:p>
          <a:p>
            <a:r>
              <a:rPr lang="en-US"/>
              <a:t>What did not:</a:t>
            </a:r>
          </a:p>
          <a:p>
            <a:r>
              <a:rPr lang="en-US"/>
              <a:t>• No real-time control or forecasting implemented.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0134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>
              <a:lnSpc>
                <a:spcPct val="110000"/>
              </a:lnSpc>
            </a:pPr>
            <a:r>
              <a:rPr lang="es-MX" dirty="0" err="1"/>
              <a:t>Limitations</a:t>
            </a:r>
            <a:r>
              <a:rPr lang="es-MX" dirty="0"/>
              <a:t> &amp; </a:t>
            </a:r>
            <a:r>
              <a:rPr lang="es-MX" dirty="0" err="1"/>
              <a:t>Improvements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D8F47-8FF3-F565-A5A6-11122E005165}"/>
              </a:ext>
            </a:extLst>
          </p:cNvPr>
          <p:cNvSpPr txBox="1">
            <a:spLocks/>
          </p:cNvSpPr>
          <p:nvPr/>
        </p:nvSpPr>
        <p:spPr>
          <a:xfrm>
            <a:off x="749808" y="1545336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Limitations:</a:t>
            </a:r>
          </a:p>
          <a:p>
            <a:r>
              <a:rPr lang="en-US" dirty="0"/>
              <a:t>• Diagnostic-only DT</a:t>
            </a:r>
          </a:p>
          <a:p>
            <a:r>
              <a:rPr lang="en-US" dirty="0"/>
              <a:t>• No predictive or prescriptive control</a:t>
            </a:r>
          </a:p>
          <a:p>
            <a:endParaRPr lang="en-US" dirty="0"/>
          </a:p>
          <a:p>
            <a:r>
              <a:rPr lang="en-US" dirty="0"/>
              <a:t>Next steps:</a:t>
            </a:r>
          </a:p>
          <a:p>
            <a:r>
              <a:rPr lang="en-US" dirty="0"/>
              <a:t>• Forecasting</a:t>
            </a:r>
          </a:p>
          <a:p>
            <a:r>
              <a:rPr lang="en-US" dirty="0"/>
              <a:t>• Anomaly detection</a:t>
            </a:r>
          </a:p>
          <a:p>
            <a:r>
              <a:rPr lang="en-US" dirty="0"/>
              <a:t>• Alerting mechanisms</a:t>
            </a: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Marcador de posición de imagen 5" descr="Primer plano de un puente con cabl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xfrm>
            <a:off x="0" y="0"/>
            <a:ext cx="5878987" cy="6857999"/>
          </a:xfr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4896" y="3387037"/>
            <a:ext cx="4902843" cy="3526778"/>
          </a:xfrm>
          <a:noFill/>
        </p:spPr>
        <p:txBody>
          <a:bodyPr rtlCol="0" anchor="b"/>
          <a:lstStyle>
            <a:defPPr>
              <a:defRPr lang="es-ES"/>
            </a:defPPr>
          </a:lstStyle>
          <a:p>
            <a:pPr rtl="0"/>
            <a:r>
              <a:rPr lang="es-ES" dirty="0" err="1"/>
              <a:t>Thanks</a:t>
            </a:r>
            <a:endParaRPr 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B7D65FE-A573-7575-A7EA-D7703F2D0D67}"/>
              </a:ext>
            </a:extLst>
          </p:cNvPr>
          <p:cNvSpPr txBox="1">
            <a:spLocks/>
          </p:cNvSpPr>
          <p:nvPr/>
        </p:nvSpPr>
        <p:spPr>
          <a:xfrm>
            <a:off x="6752658" y="1188086"/>
            <a:ext cx="3886767" cy="65013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000" i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s-MX" dirty="0" err="1"/>
              <a:t>Conclusion</a:t>
            </a:r>
            <a:endParaRPr lang="es-MX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3E4C14-1B3A-37EB-9F9F-C3B9F6679C0E}"/>
              </a:ext>
            </a:extLst>
          </p:cNvPr>
          <p:cNvSpPr txBox="1">
            <a:spLocks/>
          </p:cNvSpPr>
          <p:nvPr/>
        </p:nvSpPr>
        <p:spPr>
          <a:xfrm>
            <a:off x="3918018" y="2887444"/>
            <a:ext cx="809244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 project demonstrates a valid Digital Twin implementation.</a:t>
            </a:r>
          </a:p>
          <a:p>
            <a:endParaRPr lang="en-US" sz="2400" dirty="0"/>
          </a:p>
          <a:p>
            <a:r>
              <a:rPr lang="en-US" sz="2400" dirty="0"/>
              <a:t>It integrates data, models, and visualization to represent a real system.</a:t>
            </a:r>
          </a:p>
          <a:p>
            <a:endParaRPr lang="en-US" sz="2400" dirty="0"/>
          </a:p>
          <a:p>
            <a:r>
              <a:rPr lang="en-US" sz="2400" dirty="0"/>
              <a:t>Forms a foundation for advanced DT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43">
      <a:dk1>
        <a:srgbClr val="000000"/>
      </a:dk1>
      <a:lt1>
        <a:srgbClr val="FFFFFF"/>
      </a:lt1>
      <a:dk2>
        <a:srgbClr val="EFEBEB"/>
      </a:dk2>
      <a:lt2>
        <a:srgbClr val="E8E8E8"/>
      </a:lt2>
      <a:accent1>
        <a:srgbClr val="001D2E"/>
      </a:accent1>
      <a:accent2>
        <a:srgbClr val="145766"/>
      </a:accent2>
      <a:accent3>
        <a:srgbClr val="B99B9F"/>
      </a:accent3>
      <a:accent4>
        <a:srgbClr val="A47930"/>
      </a:accent4>
      <a:accent5>
        <a:srgbClr val="0C577C"/>
      </a:accent5>
      <a:accent6>
        <a:srgbClr val="CC836D"/>
      </a:accent6>
      <a:hlink>
        <a:srgbClr val="467886"/>
      </a:hlink>
      <a:folHlink>
        <a:srgbClr val="96607D"/>
      </a:folHlink>
    </a:clrScheme>
    <a:fontScheme name="Custom 98">
      <a:majorFont>
        <a:latin typeface="Walbaum Display Light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ngle lines design_Win32_SL_V15" id="{7EDC6EF7-8AD3-4A22-B09A-9C2D96F216F8}" vid="{B0E828C9-6219-42BF-B63C-156B68E5CC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6AF5396E-7F98-4AAA-AC68-57F061A20CBB}">
  <we:reference id="WA200003233" version="2.0.0.3" store="es-E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Z32/bNhD+VwK99MUtSFGSJb9lbgYUbQYjyfoyFMaRPDlqZUmgqCxekP+9R9FCtzSdE6PJrMyAYfF4uh/fd0dS8k2gi7YpYfMbrDGYBadgFOjaHPFgElRelmRRlOc8iachRiBRoWQ0Wze2qKs2mN0EFswK7cei7aB0hkj4x6dJAGW5gJUb5VC2OAkaNG1dQVn8hV6Zpqzp8HYS4HVT1gacyXMLFp3ZK1KnMYXA3wjyCMoWV3iOynppnCah4Eko04RFjCXAppLUWq/QR3avijPdu5/XlYWiIjdOJiVmAlWqWJrFcZSIKI2cPC9KO6hsTq4bQ9lRzpvGgTOnWFe1KRSUQZ+FwdYHfRPM67Jb91cn/5Cf151ReIZ5P1XZwm7IUrtpLa6Xa7RkrV1qsNCiDW4JnIWpCbpeyxYEr4V1s1wXVUc4ufnL+s+5QYpEBzN2+4kkbVGtyi3I3/K98DFbkCWeXDsO5WcCy6VG99RGo/ll02f3tjADzHxyJ/xnSqvP47JYXZb0tc5mi+UQFIXoLJ1C00/c6+PNd0bdba0ip++0T2TdgCnaIa1h9L6oHJCT4APm9lmJPBtS/VBQyXnqPkLZOdbIDrqbXvE0y17z8LVgF4zNxHTG2CuHl0eM3IJz6VqQBCSRoYY8TPJMhpKpBKRgamddH+srqBQV1N2iPl6tDK7AbodPXxqq6ZZ0rbDyU7921VCZe9S+AqO3Uw8r//Bu+R8WAJ5iEUqVC5UIyeJUJRjFjI2IYgPrZdei/n/zvBsFTzbEmHCYcp6yjMcghErDEZH9qH6eHPJGOzlAdOk49+WRvXSIaTzBilDSQW9+CcYe/LlnOOmS3ue/nWW3HeADfaZgaMEhnVSLKEolV7Ts0M4yVWkKI1px9uiJl7i/PAAGv8FkkZRhmLGQMVRKIyRsTHT/eIOJxrH47SJqJGnsWMPvyWJ315UdeTaofbyPWc7/+/7717r0ncdRa5GrKEq4kjGDmCdjOsc/qvNe4hL7AIrTXAoZRUzF8TRFxrkSOCKKn6Kpx8fzbhQ82XkUgozDNBJxikJrljE5IrL32IheItsPgMHTrWKVcJGzmKUJ8ljRh+9P9ylC2xn8ubksEL4czRe/H13QYX+/Z9qni+vtu/P3BxnY2fHpj+L6+QX/3YPnsxRC/6jndL6FGKzRrHq3dWfbBhQuoPJv0RtvqMBej2iASqPeXhv3e88b7P5foOFNNX2+Ao5C63Z9GgAA&quot;"/>
    <we:property name="creatorSessionId" value="&quot;9b0c294c-6b84-4425-ad55-a3254678cebd&quot;"/>
    <we:property name="creatorTenantId" value="&quot;aca51631-00fe-490d-91ab-163ef87260ee&quot;"/>
    <we:property name="creatorUserId" value="&quot;1003200216764C2C&quot;"/>
    <we:property name="datasetId" value="&quot;bf1c023b-df2c-4258-9975-8eac81a6f0e8&quot;"/>
    <we:property name="embedUrl" value="&quot;/reportEmbed?reportId=b5341f3d-2ba5-4a23-bd7b-4138cc383c7e&amp;config=eyJjbHVzdGVyVXJsIjoiaHR0cHM6Ly9XQUJJLVNPVVRILUNFTlRSQUwtVVMtQi1QUklNQVJZLXJlZGlyZWN0LmFuYWx5c2lzLndpbmRvd3MubmV0IiwiZW1iZWRGZWF0dXJlcyI6eyJ1c2FnZU1ldHJpY3NWTmV4dCI6dHJ1ZX19&amp;disableSensitivityBanner=true&amp;storytellingChangeViewModeShortcutKeys=true&quot;"/>
    <we:property name="initialStateBookmark" value="&quot;H4sIAAAAAAAAA+VZ32/TMBD+VyY/V8iOk8zdWylDQqNQbbAXhKqzfSmBNIkcZ6xM+9+5xJuA8aNbxUYz+tLkfPF9932+s6NcMJs3dQHrV7BCdsBm4AzYyu0JNmJlsD19/fpoNjk+WryazA7JXNU+r8qGHVwwD26J/jRvWii6Gcj47v2IQVHMYdndZVA0OGI1uqYqoci/YHCmIe9avBwxPK+LykE35YkHj920Z+RO9xRbPJEUEYzPz/AEjQ/WRKWRFGmkVcpjzlPg+5rcmuDQI/ulSzd1H35alR7yksJ0Nq1xLNEow9U4SeJUxiru7Fle+GuX9eF57Sg7ynldd6xMCeuycrmBgvVZOGwC6As2rYp21V8d/mA/qVpn8Bizfqj0uV/TTM268bharNDTbM3CgocGPbskcuauIup6L58TvR5W9WKVly3x1I1/qD5PHRISyw745XuyNHm5LK5I/pbvm4DZgy7w8LzTUH8ksrrU6JnKWXRP1312z3J3TbMY3YD/QGlRHuSjIwtZlGZjHWluUtCSm42iTOwZlIbYuKnIZLl0uAR/dXv/eZm6XdC1wTIMPW/La1q3EM6As1dDt9MuuqndbhEQJJaRNpk0qdQ8USbFOOF8QBI7WC3aBu3/rfNmFoLYkGAqYF8IxcciASmNigYk9p3qebTLu8RoB9mlQ8inO9bSLqZxDx2hoFPK9AM4v/Ob9vUxjfw+fncQu6qAAPSBwFDDIR9lZRwrLQy1HdpZ9o1SMKCOs0VNPMb95RY0hA1mHGsdRWMecY7GWISUD0nu328w8TCa3yahBpLGhh7+iyw2V13RUmSHNuC9Szv/9/X3x3UZKk+gtTIzcZwKoxMOiUiHdI6/U+U9xhZ7C4lVpqWOY26SZF8hF8JIHJDE91HUw9N5MwtB7CyOQCeRimWiUFrLx1wPSOwtNqLHqPYtaAhym8SkQmY84SpFkRj6ie3lniE0rcO/m8sc4dPedP527w0d9rd7p70/XM9enBztJLDjyex3uP7+gv/pxfNBFkL/qtf5fIPIVuiWfdiq9U0NBudQYg+3DhPl2PuRDFDajo/+2nX/L3Na8oGOUyjajon+EwbrgxBDuS5wwwPdhw3Ww+rBfQWJbkvfYxkAAA==&quot;"/>
    <we:property name="isFiltersActionButtonVisible" value="true"/>
    <we:property name="isVisualContainerHeaderHidden" value="false"/>
    <we:property name="pageDisplayName" value="&quot;Page 1&quot;"/>
    <we:property name="pageName" value="&quot;58623162b8604006a07b&quot;"/>
    <we:property name="reportEmbeddedTime" value="&quot;2026-01-17T13:43:52.788Z&quot;"/>
    <we:property name="reportName" value="&quot;PC_Performance&quot;"/>
    <we:property name="reportState" value="&quot;CONNECTED&quot;"/>
    <we:property name="reportUrl" value="&quot;/groups/me/reports/b5341f3d-2ba5-4a23-bd7b-4138cc383c7e/58623162b8604006a07b?bookmarkGuid=b219631c-a9c1-49d0-8c47-c173a3a6e65e&amp;bookmarkUsage=1&amp;ctid=aca51631-00fe-490d-91ab-163ef87260ee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424</Words>
  <Application>Microsoft Office PowerPoint</Application>
  <PresentationFormat>Panorámica</PresentationFormat>
  <Paragraphs>123</Paragraphs>
  <Slides>14</Slides>
  <Notes>13</Notes>
  <HiddenSlides>2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Segoe UI Light</vt:lpstr>
      <vt:lpstr>Univers Light</vt:lpstr>
      <vt:lpstr>Walbaum Display Light</vt:lpstr>
      <vt:lpstr>AngleLinesVTI</vt:lpstr>
      <vt:lpstr>Digital Twin Project – Server Performance</vt:lpstr>
      <vt:lpstr>Index</vt:lpstr>
      <vt:lpstr>Problem &amp; Motivation</vt:lpstr>
      <vt:lpstr>Physical System &amp; DT Objective</vt:lpstr>
      <vt:lpstr>Data Sources &amp; Inputs</vt:lpstr>
      <vt:lpstr>Data Processing &amp; EDA</vt:lpstr>
      <vt:lpstr>Modeling Approach</vt:lpstr>
      <vt:lpstr>Digital Twin Architecture</vt:lpstr>
      <vt:lpstr>Results &amp; Visualization</vt:lpstr>
      <vt:lpstr>Presentación de PowerPoint</vt:lpstr>
      <vt:lpstr>Digital Twin Integration</vt:lpstr>
      <vt:lpstr>Lessons Learned</vt:lpstr>
      <vt:lpstr>Limitations &amp; Improvements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Harold Stiven Vargas Henao</cp:lastModifiedBy>
  <cp:revision>8</cp:revision>
  <dcterms:created xsi:type="dcterms:W3CDTF">2026-01-17T13:58:21Z</dcterms:created>
  <dcterms:modified xsi:type="dcterms:W3CDTF">2026-01-17T14:43:22Z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