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webextensions/webextension1.xml" ContentType="application/vnd.ms-office.webextension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89" r:id="rId5"/>
    <p:sldId id="288" r:id="rId6"/>
    <p:sldId id="276" r:id="rId7"/>
    <p:sldId id="283" r:id="rId8"/>
    <p:sldId id="261" r:id="rId9"/>
    <p:sldId id="257" r:id="rId10"/>
    <p:sldId id="264" r:id="rId11"/>
    <p:sldId id="265" r:id="rId12"/>
    <p:sldId id="263" r:id="rId13"/>
    <p:sldId id="292" r:id="rId14"/>
    <p:sldId id="291" r:id="rId15"/>
    <p:sldId id="268" r:id="rId16"/>
    <p:sldId id="266" r:id="rId17"/>
    <p:sldId id="267" r:id="rId18"/>
    <p:sldId id="290" r:id="rId19"/>
    <p:sldId id="262" r:id="rId20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58" autoAdjust="0"/>
    <p:restoredTop sz="94694" autoAdjust="0"/>
  </p:normalViewPr>
  <p:slideViewPr>
    <p:cSldViewPr snapToGrid="0">
      <p:cViewPr varScale="1">
        <p:scale>
          <a:sx n="70" d="100"/>
          <a:sy n="70" d="100"/>
        </p:scale>
        <p:origin x="704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80" d="100"/>
          <a:sy n="80" d="100"/>
        </p:scale>
        <p:origin x="3996" y="15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DA63CEE3-1E53-4904-B7C8-7FD6CACB5D77}" type="datetime1">
              <a:rPr lang="es-ES" smtClean="0"/>
              <a:t>17/01/2026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fld id="{5C694D8B-FFEA-4204-BB22-626A8A05557B}" type="datetime1">
              <a:rPr lang="es-ES" smtClean="0"/>
              <a:pPr/>
              <a:t>17/01/2026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CC5DA344-5FA2-43F7-9D95-CA56C82B080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5762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544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7634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30452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58523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884402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40479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79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87698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65083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1298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99733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18806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C7C52-CD9C-3777-93D1-4A7982E7A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EA67FED-2777-8AD0-0F6D-54E182569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859842E-75D0-07B1-F284-4015A74D4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18B04E-B4D6-BF93-8953-B9DFE445F2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5550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C5DA344-5FA2-43F7-9D95-CA56C82B080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4415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ítulo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4AAEB19-4B49-2801-9B15-7682CDF04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FD23C3EC-28B3-4644-8BE5-3288734B46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ítulo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57468" y="486137"/>
            <a:ext cx="5427584" cy="3599727"/>
          </a:xfrm>
        </p:spPr>
        <p:txBody>
          <a:bodyPr rtlCol="0" anchor="b" anchorCtr="0">
            <a:noAutofit/>
          </a:bodyPr>
          <a:lstStyle>
            <a:lvl1pPr algn="l">
              <a:defRPr lang="es-ES" sz="4400" cap="all" baseline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3" name="Marcador de posición de imagen 12">
            <a:extLst>
              <a:ext uri="{FF2B5EF4-FFF2-40B4-BE49-F238E27FC236}">
                <a16:creationId xmlns:a16="http://schemas.microsoft.com/office/drawing/2014/main" id="{B64FCBF4-90E6-FFAA-143D-3A01CE5256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24774" y="-6713"/>
            <a:ext cx="6578801" cy="6894576"/>
          </a:xfrm>
          <a:custGeom>
            <a:avLst/>
            <a:gdLst>
              <a:gd name="connsiteX0" fmla="*/ 0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0 w 6613525"/>
              <a:gd name="connsiteY4" fmla="*/ 0 h 6858000"/>
              <a:gd name="connsiteX0" fmla="*/ 1875099 w 6613525"/>
              <a:gd name="connsiteY0" fmla="*/ 0 h 6858000"/>
              <a:gd name="connsiteX1" fmla="*/ 6613525 w 6613525"/>
              <a:gd name="connsiteY1" fmla="*/ 0 h 6858000"/>
              <a:gd name="connsiteX2" fmla="*/ 6613525 w 6613525"/>
              <a:gd name="connsiteY2" fmla="*/ 6858000 h 6858000"/>
              <a:gd name="connsiteX3" fmla="*/ 0 w 6613525"/>
              <a:gd name="connsiteY3" fmla="*/ 6858000 h 6858000"/>
              <a:gd name="connsiteX4" fmla="*/ 1875099 w 6613525"/>
              <a:gd name="connsiteY4" fmla="*/ 0 h 6858000"/>
              <a:gd name="connsiteX0" fmla="*/ 1840375 w 6578801"/>
              <a:gd name="connsiteY0" fmla="*/ 0 h 6869575"/>
              <a:gd name="connsiteX1" fmla="*/ 6578801 w 6578801"/>
              <a:gd name="connsiteY1" fmla="*/ 0 h 6869575"/>
              <a:gd name="connsiteX2" fmla="*/ 6578801 w 6578801"/>
              <a:gd name="connsiteY2" fmla="*/ 6858000 h 6869575"/>
              <a:gd name="connsiteX3" fmla="*/ 0 w 6578801"/>
              <a:gd name="connsiteY3" fmla="*/ 6869575 h 6869575"/>
              <a:gd name="connsiteX4" fmla="*/ 1840375 w 6578801"/>
              <a:gd name="connsiteY4" fmla="*/ 0 h 686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8801" h="6869575">
                <a:moveTo>
                  <a:pt x="1840375" y="0"/>
                </a:moveTo>
                <a:lnTo>
                  <a:pt x="6578801" y="0"/>
                </a:lnTo>
                <a:lnTo>
                  <a:pt x="6578801" y="6858000"/>
                </a:lnTo>
                <a:lnTo>
                  <a:pt x="0" y="6869575"/>
                </a:lnTo>
                <a:lnTo>
                  <a:pt x="1840375" y="0"/>
                </a:lnTo>
                <a:close/>
              </a:path>
            </a:pathLst>
          </a:custGeom>
        </p:spPr>
        <p:txBody>
          <a:bodyPr tIns="274320" rIns="274320" rtlCol="0">
            <a:normAutofit/>
          </a:bodyPr>
          <a:lstStyle>
            <a:lvl1pPr marL="0" indent="0" algn="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bre 6">
            <a:extLst>
              <a:ext uri="{FF2B5EF4-FFF2-40B4-BE49-F238E27FC236}">
                <a16:creationId xmlns:a16="http://schemas.microsoft.com/office/drawing/2014/main" id="{E1BBEEFE-AE8A-8083-54B6-DBE9BC0E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42863" y="0"/>
            <a:ext cx="4658392" cy="6858000"/>
          </a:xfrm>
          <a:custGeom>
            <a:avLst/>
            <a:gdLst>
              <a:gd name="connsiteX0" fmla="*/ 0 w 4658392"/>
              <a:gd name="connsiteY0" fmla="*/ 0 h 6858000"/>
              <a:gd name="connsiteX1" fmla="*/ 4658392 w 4658392"/>
              <a:gd name="connsiteY1" fmla="*/ 0 h 6858000"/>
              <a:gd name="connsiteX2" fmla="*/ 2820797 w 4658392"/>
              <a:gd name="connsiteY2" fmla="*/ 6858000 h 6858000"/>
              <a:gd name="connsiteX3" fmla="*/ 0 w 4658392"/>
              <a:gd name="connsiteY3" fmla="*/ 6858000 h 6858000"/>
              <a:gd name="connsiteX4" fmla="*/ 0 w 465839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58392" h="6858000">
                <a:moveTo>
                  <a:pt x="0" y="0"/>
                </a:moveTo>
                <a:lnTo>
                  <a:pt x="4658392" y="0"/>
                </a:lnTo>
                <a:lnTo>
                  <a:pt x="282079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E64FF31D-04D7-B1F4-53B1-AA417060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9F040EF-92FF-AEA1-BBA6-A4B739E119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CA59A84-C321-FDF9-555F-1FB322EBB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09286"/>
            <a:ext cx="3200400" cy="5617193"/>
          </a:xfrm>
        </p:spPr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23412" y="509286"/>
            <a:ext cx="4328932" cy="5617194"/>
          </a:xfrm>
        </p:spPr>
        <p:txBody>
          <a:bodyPr rtlCol="0" anchor="ctr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lang="es-ES" sz="180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lang="es-ES" sz="160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lang="es-ES" sz="140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lang="es-ES" sz="120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lang="es-ES" sz="12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4" name="Marcador de posición de imagen 13">
            <a:extLst>
              <a:ext uri="{FF2B5EF4-FFF2-40B4-BE49-F238E27FC236}">
                <a16:creationId xmlns:a16="http://schemas.microsoft.com/office/drawing/2014/main" id="{760CD5A6-A0E4-A658-65B1-0D6C053316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8813" y="-22860"/>
            <a:ext cx="2651760" cy="6903720"/>
          </a:xfrm>
        </p:spPr>
        <p:txBody>
          <a:bodyPr lIns="182880" tIns="274320" rIns="182880"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C6EC6AF9-CC07-5258-9160-8C6391530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5BC6DCCE-3025-75FB-9405-8D51DCD63D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516CCC3-736F-49AC-F079-9A090DAA8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3BF578A-ADDB-6713-E5AD-0FF27EDC2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ítulo 1">
            <a:extLst>
              <a:ext uri="{FF2B5EF4-FFF2-40B4-BE49-F238E27FC236}">
                <a16:creationId xmlns:a16="http://schemas.microsoft.com/office/drawing/2014/main" id="{076C4EAC-BBDE-1963-BD72-3BD2A47DC5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743671"/>
            <a:ext cx="9144000" cy="3361254"/>
          </a:xfrm>
        </p:spPr>
        <p:txBody>
          <a:bodyPr rtlCol="0" anchor="b">
            <a:noAutofit/>
          </a:bodyPr>
          <a:lstStyle>
            <a:lvl1pPr algn="ctr">
              <a:defRPr lang="es-ES" sz="44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E592AF4F-2F83-7005-B3AC-6FCC7FB191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7620" y="4766434"/>
            <a:ext cx="12207240" cy="2121408"/>
          </a:xfrm>
        </p:spPr>
        <p:txBody>
          <a:bodyPr rtlCol="0">
            <a:no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298420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 +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3CF0EA4-D201-44E7-3558-D05CB4233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A643EA3-ACAA-539C-A041-266A895A2B1C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1681E18B-2347-8DB6-2A7F-3EAC100A4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072" y="528320"/>
            <a:ext cx="5028566" cy="3354992"/>
          </a:xfrm>
        </p:spPr>
        <p:txBody>
          <a:bodyPr rtlCol="0" anchor="b">
            <a:noAutofit/>
          </a:bodyPr>
          <a:lstStyle>
            <a:lvl1pPr algn="l">
              <a:defRPr lang="es-ES" sz="4400"/>
            </a:lvl1pPr>
          </a:lstStyle>
          <a:p>
            <a:pPr rtl="0"/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072" y="4027992"/>
            <a:ext cx="5028565" cy="1894972"/>
          </a:xfrm>
        </p:spPr>
        <p:txBody>
          <a:bodyPr rtlCol="0">
            <a:noAutofit/>
          </a:bodyPr>
          <a:lstStyle>
            <a:lvl1pPr marL="0" indent="0" algn="l">
              <a:buNone/>
              <a:defRPr lang="es-ES"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AA872EE9-FDFB-95A7-3547-DCAA0B51FE2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57326" y="-11576"/>
            <a:ext cx="4946249" cy="6903720"/>
          </a:xfrm>
          <a:custGeom>
            <a:avLst/>
            <a:gdLst>
              <a:gd name="connsiteX0" fmla="*/ 0 w 4977139"/>
              <a:gd name="connsiteY0" fmla="*/ 0 h 6858000"/>
              <a:gd name="connsiteX1" fmla="*/ 4977139 w 4977139"/>
              <a:gd name="connsiteY1" fmla="*/ 0 h 6858000"/>
              <a:gd name="connsiteX2" fmla="*/ 4977139 w 4977139"/>
              <a:gd name="connsiteY2" fmla="*/ 6858000 h 6858000"/>
              <a:gd name="connsiteX3" fmla="*/ 0 w 4977139"/>
              <a:gd name="connsiteY3" fmla="*/ 6858000 h 6858000"/>
              <a:gd name="connsiteX4" fmla="*/ 0 w 4977139"/>
              <a:gd name="connsiteY4" fmla="*/ 0 h 6858000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58000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  <a:gd name="connsiteX0" fmla="*/ 0 w 4977139"/>
              <a:gd name="connsiteY0" fmla="*/ 0 h 6892724"/>
              <a:gd name="connsiteX1" fmla="*/ 4977139 w 4977139"/>
              <a:gd name="connsiteY1" fmla="*/ 0 h 6892724"/>
              <a:gd name="connsiteX2" fmla="*/ 4977139 w 4977139"/>
              <a:gd name="connsiteY2" fmla="*/ 6892724 h 6892724"/>
              <a:gd name="connsiteX3" fmla="*/ 1863524 w 4977139"/>
              <a:gd name="connsiteY3" fmla="*/ 6892724 h 6892724"/>
              <a:gd name="connsiteX4" fmla="*/ 0 w 4977139"/>
              <a:gd name="connsiteY4" fmla="*/ 0 h 6892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77139" h="6892724">
                <a:moveTo>
                  <a:pt x="0" y="0"/>
                </a:moveTo>
                <a:lnTo>
                  <a:pt x="4977139" y="0"/>
                </a:lnTo>
                <a:lnTo>
                  <a:pt x="4977139" y="6892724"/>
                </a:lnTo>
                <a:lnTo>
                  <a:pt x="1863524" y="6892724"/>
                </a:lnTo>
                <a:lnTo>
                  <a:pt x="0" y="0"/>
                </a:lnTo>
                <a:close/>
              </a:path>
            </a:pathLst>
          </a:custGeom>
        </p:spPr>
        <p:txBody>
          <a:bodyPr tIns="274320" rIns="274320" rtlCol="0">
            <a:normAutofit/>
          </a:bodyPr>
          <a:lstStyle>
            <a:lvl1pPr marL="0" indent="0" algn="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6CBD635-4863-B127-5668-D2C7DA8CD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A1629720-DD91-8012-686D-AABA439870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0911820" y="0"/>
            <a:ext cx="913577" cy="68580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0117" y="185195"/>
            <a:ext cx="6930838" cy="1505493"/>
          </a:xfrm>
        </p:spPr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1FB27827-7491-B1C2-D9C5-975A9FF66EC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8788" y="-22860"/>
            <a:ext cx="3291840" cy="6903720"/>
          </a:xfrm>
        </p:spPr>
        <p:txBody>
          <a:bodyPr lIns="182880" tIns="274320" rIns="182880"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1" name="Marcador de contenido 3">
            <a:extLst>
              <a:ext uri="{FF2B5EF4-FFF2-40B4-BE49-F238E27FC236}">
                <a16:creationId xmlns:a16="http://schemas.microsoft.com/office/drawing/2014/main" id="{7D4D4555-A25D-09B6-36AF-5977189F2DD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0116" y="2022395"/>
            <a:ext cx="6941703" cy="4297680"/>
          </a:xfrm>
        </p:spPr>
        <p:txBody>
          <a:bodyPr rtlCol="0">
            <a:normAutofit/>
          </a:bodyPr>
          <a:lstStyle>
            <a:lvl1pPr marL="228600" indent="-228600">
              <a:spcBef>
                <a:spcPts val="100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lang="es-ES" sz="1800"/>
            </a:lvl1pPr>
            <a:lvl2pPr>
              <a:spcBef>
                <a:spcPts val="1000"/>
              </a:spcBef>
              <a:spcAft>
                <a:spcPts val="1500"/>
              </a:spcAft>
              <a:defRPr lang="es-ES" sz="1800"/>
            </a:lvl2pPr>
            <a:lvl3pPr>
              <a:spcBef>
                <a:spcPts val="1000"/>
              </a:spcBef>
              <a:spcAft>
                <a:spcPts val="1500"/>
              </a:spcAft>
              <a:defRPr lang="es-ES" sz="1800"/>
            </a:lvl3pPr>
            <a:lvl4pPr>
              <a:spcBef>
                <a:spcPts val="1000"/>
              </a:spcBef>
              <a:spcAft>
                <a:spcPts val="1500"/>
              </a:spcAft>
              <a:defRPr lang="es-ES" sz="1800"/>
            </a:lvl4pPr>
            <a:lvl5pPr>
              <a:spcBef>
                <a:spcPts val="1000"/>
              </a:spcBef>
              <a:spcAft>
                <a:spcPts val="1500"/>
              </a:spcAft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a libre 10">
            <a:extLst>
              <a:ext uri="{FF2B5EF4-FFF2-40B4-BE49-F238E27FC236}">
                <a16:creationId xmlns:a16="http://schemas.microsoft.com/office/drawing/2014/main" id="{C4293765-78A6-5206-26C2-E8817B283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470792" cy="6858000"/>
          </a:xfrm>
          <a:custGeom>
            <a:avLst/>
            <a:gdLst>
              <a:gd name="connsiteX0" fmla="*/ 0 w 7470792"/>
              <a:gd name="connsiteY0" fmla="*/ 0 h 6858000"/>
              <a:gd name="connsiteX1" fmla="*/ 7470792 w 7470792"/>
              <a:gd name="connsiteY1" fmla="*/ 0 h 6858000"/>
              <a:gd name="connsiteX2" fmla="*/ 5633197 w 7470792"/>
              <a:gd name="connsiteY2" fmla="*/ 6858000 h 6858000"/>
              <a:gd name="connsiteX3" fmla="*/ 0 w 747079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70792" h="6858000">
                <a:moveTo>
                  <a:pt x="0" y="0"/>
                </a:moveTo>
                <a:lnTo>
                  <a:pt x="7470792" y="0"/>
                </a:lnTo>
                <a:lnTo>
                  <a:pt x="563319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s-ES"/>
            </a:defPPr>
          </a:lstStyle>
          <a:p>
            <a:pPr algn="ctr" rtl="0"/>
            <a:endParaRPr lang="es-ES">
              <a:ln>
                <a:noFill/>
              </a:ln>
            </a:endParaRP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B4E351F-7451-86A3-5271-0D00B9EFA6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A860223-A40E-30ED-6832-0825A930B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0B6907E-F17B-783E-D454-DFC62D097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6B12211-7E94-9534-6F2D-2AFD2EBE3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6580245-E985-EC3F-9385-D0F517F0C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B75A82A3-E3DF-978F-4BD7-10E0F107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9EDC40AE-D1CB-7535-22E2-E6D910FB8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685800"/>
            <a:ext cx="9144000" cy="3136738"/>
          </a:xfrm>
        </p:spPr>
        <p:txBody>
          <a:bodyPr rtlCol="0" anchor="b">
            <a:noAutofit/>
          </a:bodyPr>
          <a:lstStyle>
            <a:lvl1pPr algn="ctr">
              <a:defRPr lang="es-ES" sz="44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978800"/>
            <a:ext cx="9144000" cy="1965960"/>
          </a:xfrm>
        </p:spPr>
        <p:txBody>
          <a:bodyPr rtlCol="0">
            <a:noAutofit/>
          </a:bodyPr>
          <a:lstStyle>
            <a:lvl1pPr marL="0" indent="0" algn="ctr">
              <a:buNone/>
              <a:defRPr lang="es-ES" sz="1800" b="1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9E49FCE-658C-FF5A-6405-3D10F1AC1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903C516-D418-5E3E-1E4E-1DF846433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D7BF5B15-0E8A-A82C-6E9C-FCF3FBAA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354B33CA-9490-C8E1-FE4F-06367AF292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586824F-3198-FE44-5A4A-70312048D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5058CD71-6E97-B6A9-11B6-867ED408DE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1E9FDAA6-BDE8-D6C3-17CD-F87BFB54F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7" name="Marcador de contenido 3">
            <a:extLst>
              <a:ext uri="{FF2B5EF4-FFF2-40B4-BE49-F238E27FC236}">
                <a16:creationId xmlns:a16="http://schemas.microsoft.com/office/drawing/2014/main" id="{42A0738D-E9A9-14B7-4739-62E402B0C2D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4961" y="2032663"/>
            <a:ext cx="4463005" cy="406749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lang="es-ES" sz="1800"/>
            </a:lvl1pPr>
            <a:lvl2pPr marL="0">
              <a:spcBef>
                <a:spcPts val="1000"/>
              </a:spcBef>
              <a:spcAft>
                <a:spcPts val="500"/>
              </a:spcAft>
              <a:defRPr lang="es-ES" sz="1800"/>
            </a:lvl2pPr>
            <a:lvl3pPr marL="457200">
              <a:spcBef>
                <a:spcPts val="1000"/>
              </a:spcBef>
              <a:spcAft>
                <a:spcPts val="500"/>
              </a:spcAft>
              <a:defRPr lang="es-ES" sz="1800"/>
            </a:lvl3pPr>
            <a:lvl4pPr marL="685800">
              <a:spcBef>
                <a:spcPts val="1000"/>
              </a:spcBef>
              <a:spcAft>
                <a:spcPts val="500"/>
              </a:spcAft>
              <a:defRPr lang="es-ES" sz="1800"/>
            </a:lvl4pPr>
            <a:lvl5pPr marL="914400">
              <a:spcBef>
                <a:spcPts val="1000"/>
              </a:spcBef>
              <a:spcAft>
                <a:spcPts val="500"/>
              </a:spcAft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5" name="Marcador de contenido 3">
            <a:extLst>
              <a:ext uri="{FF2B5EF4-FFF2-40B4-BE49-F238E27FC236}">
                <a16:creationId xmlns:a16="http://schemas.microsoft.com/office/drawing/2014/main" id="{A766D4CB-8BCE-C6EE-EF57-A8A819EBD36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41720" y="2032663"/>
            <a:ext cx="5212080" cy="406749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lang="es-ES" sz="1800"/>
            </a:lvl1pPr>
            <a:lvl2pPr marL="0">
              <a:spcBef>
                <a:spcPts val="1000"/>
              </a:spcBef>
              <a:spcAft>
                <a:spcPts val="500"/>
              </a:spcAft>
              <a:defRPr lang="es-ES" sz="1800"/>
            </a:lvl2pPr>
            <a:lvl3pPr marL="457200">
              <a:spcBef>
                <a:spcPts val="1000"/>
              </a:spcBef>
              <a:spcAft>
                <a:spcPts val="500"/>
              </a:spcAft>
              <a:defRPr lang="es-ES" sz="1800"/>
            </a:lvl3pPr>
            <a:lvl4pPr marL="685800">
              <a:spcBef>
                <a:spcPts val="1000"/>
              </a:spcBef>
              <a:spcAft>
                <a:spcPts val="500"/>
              </a:spcAft>
              <a:defRPr lang="es-ES" sz="1800"/>
            </a:lvl4pPr>
            <a:lvl5pPr marL="914400">
              <a:spcBef>
                <a:spcPts val="1000"/>
              </a:spcBef>
              <a:spcAft>
                <a:spcPts val="500"/>
              </a:spcAft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FDD9208B-0FD2-A7E3-5202-0F18392AE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04010E2-9C6F-C582-1E3A-F5D43D0FF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B3D2B8AF-94DE-C211-EAE7-0971C111B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247A2AC-F284-077E-9A14-EB7D1DE62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A0E91F1F-5151-2442-2B89-CE0AB1178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3FBD82AC-3C5B-819E-E0FF-157D74B84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F299648-2E6E-FA0D-85E4-8884BE34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7" name="Marcador de contenido 3">
            <a:extLst>
              <a:ext uri="{FF2B5EF4-FFF2-40B4-BE49-F238E27FC236}">
                <a16:creationId xmlns:a16="http://schemas.microsoft.com/office/drawing/2014/main" id="{07BD0263-5D42-E696-F170-1F9CF5FF2A74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838199" y="2078963"/>
            <a:ext cx="3435628" cy="4067492"/>
          </a:xfrm>
        </p:spPr>
        <p:txBody>
          <a:bodyPr rtlCol="0">
            <a:normAutofit/>
          </a:bodyPr>
          <a:lstStyle>
            <a:lvl1pPr marL="4572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eriod"/>
              <a:defRPr lang="es-ES" sz="1800"/>
            </a:lvl1pPr>
            <a:lvl2pPr marL="9144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eriod"/>
              <a:defRPr lang="es-ES" sz="1800"/>
            </a:lvl2pPr>
            <a:lvl3pPr marL="1371600" indent="-457200">
              <a:spcBef>
                <a:spcPts val="1000"/>
              </a:spcBef>
              <a:spcAft>
                <a:spcPts val="500"/>
              </a:spcAft>
              <a:buFont typeface="+mj-lt"/>
              <a:buAutoNum type="arabicParenR"/>
              <a:defRPr lang="es-ES" sz="1800"/>
            </a:lvl3pPr>
            <a:lvl4pPr marL="1828800" indent="-457200">
              <a:spcBef>
                <a:spcPts val="1000"/>
              </a:spcBef>
              <a:spcAft>
                <a:spcPts val="500"/>
              </a:spcAft>
              <a:buFont typeface="+mj-lt"/>
              <a:buAutoNum type="alphaLcParenR"/>
              <a:defRPr lang="es-ES" sz="1800"/>
            </a:lvl4pPr>
            <a:lvl5pPr marL="2228850" indent="-457200">
              <a:spcBef>
                <a:spcPts val="1000"/>
              </a:spcBef>
              <a:spcAft>
                <a:spcPts val="500"/>
              </a:spcAft>
              <a:buFont typeface="+mj-lt"/>
              <a:buAutoNum type="romanLcPeriod"/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6" name="Marcador de contenido 3">
            <a:extLst>
              <a:ext uri="{FF2B5EF4-FFF2-40B4-BE49-F238E27FC236}">
                <a16:creationId xmlns:a16="http://schemas.microsoft.com/office/drawing/2014/main" id="{1BEE7174-135F-6F9F-11B9-3C3F2F9CDEAA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65539" y="2087315"/>
            <a:ext cx="6007261" cy="406749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lang="es-ES" sz="1800"/>
            </a:lvl1pPr>
            <a:lvl2pPr marL="0">
              <a:spcBef>
                <a:spcPts val="1000"/>
              </a:spcBef>
              <a:spcAft>
                <a:spcPts val="500"/>
              </a:spcAft>
              <a:defRPr lang="es-ES" sz="1800"/>
            </a:lvl2pPr>
            <a:lvl3pPr marL="457200">
              <a:spcBef>
                <a:spcPts val="1000"/>
              </a:spcBef>
              <a:spcAft>
                <a:spcPts val="500"/>
              </a:spcAft>
              <a:defRPr lang="es-ES" sz="1800"/>
            </a:lvl3pPr>
            <a:lvl4pPr marL="685800">
              <a:spcBef>
                <a:spcPts val="1000"/>
              </a:spcBef>
              <a:spcAft>
                <a:spcPts val="500"/>
              </a:spcAft>
              <a:defRPr lang="es-ES" sz="1800"/>
            </a:lvl4pPr>
            <a:lvl5pPr marL="914400">
              <a:spcBef>
                <a:spcPts val="1000"/>
              </a:spcBef>
              <a:spcAft>
                <a:spcPts val="500"/>
              </a:spcAft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+ image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00B3A65-BB60-F2B4-4CF4-19A7C53F1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F1DB8D5-B954-BFC9-C8D8-F0491CCBE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0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5507D69F-27D7-2C68-A17D-3F1399C8B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791200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645965" cy="1325563"/>
          </a:xfrm>
        </p:spPr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2055813"/>
            <a:ext cx="5781261" cy="406749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lang="es-ES" sz="1800"/>
            </a:lvl1pPr>
            <a:lvl2pPr>
              <a:spcBef>
                <a:spcPts val="1000"/>
              </a:spcBef>
              <a:spcAft>
                <a:spcPts val="500"/>
              </a:spcAft>
              <a:defRPr lang="es-ES" sz="1600"/>
            </a:lvl2pPr>
            <a:lvl3pPr>
              <a:spcBef>
                <a:spcPts val="1000"/>
              </a:spcBef>
              <a:spcAft>
                <a:spcPts val="500"/>
              </a:spcAft>
              <a:defRPr lang="es-ES" sz="1400"/>
            </a:lvl3pPr>
            <a:lvl4pPr>
              <a:spcBef>
                <a:spcPts val="1000"/>
              </a:spcBef>
              <a:spcAft>
                <a:spcPts val="500"/>
              </a:spcAft>
              <a:defRPr lang="es-ES" sz="1200"/>
            </a:lvl4pPr>
            <a:lvl5pPr>
              <a:spcBef>
                <a:spcPts val="1000"/>
              </a:spcBef>
              <a:spcAft>
                <a:spcPts val="500"/>
              </a:spcAft>
              <a:defRPr lang="es-ES" sz="12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566991" y="-22860"/>
            <a:ext cx="4625008" cy="6903720"/>
          </a:xfrm>
        </p:spPr>
        <p:txBody>
          <a:bodyPr tIns="274320"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+ 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45A11E-9896-BD8B-8CC6-A79C124D8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386022B-53D6-6CE0-2093-873FC64A5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0BD4BD8F-684C-A145-3376-9E69B0E5BE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E7C1DA9-2A25-EE21-085B-8857DC1AD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AF236BB3-E567-A8A9-5EC2-BCEF79CFC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D4A87C9F-C765-C63C-951E-70721DDA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4425665-0C9C-3899-9DB9-ED05D91E26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330405" cy="1325563"/>
          </a:xfrm>
        </p:spPr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137059"/>
            <a:ext cx="2816352" cy="398624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lang="es-ES" sz="1800"/>
            </a:lvl1pPr>
            <a:lvl2pPr>
              <a:spcBef>
                <a:spcPts val="1000"/>
              </a:spcBef>
              <a:spcAft>
                <a:spcPts val="500"/>
              </a:spcAft>
              <a:defRPr lang="es-ES" sz="1600"/>
            </a:lvl2pPr>
            <a:lvl3pPr>
              <a:spcBef>
                <a:spcPts val="1000"/>
              </a:spcBef>
              <a:spcAft>
                <a:spcPts val="500"/>
              </a:spcAft>
              <a:defRPr lang="es-ES" sz="1400"/>
            </a:lvl3pPr>
            <a:lvl4pPr>
              <a:spcBef>
                <a:spcPts val="1000"/>
              </a:spcBef>
              <a:spcAft>
                <a:spcPts val="500"/>
              </a:spcAft>
              <a:defRPr lang="es-ES" sz="1200"/>
            </a:lvl4pPr>
            <a:lvl5pPr>
              <a:spcBef>
                <a:spcPts val="1000"/>
              </a:spcBef>
              <a:spcAft>
                <a:spcPts val="500"/>
              </a:spcAft>
              <a:defRPr lang="es-ES" sz="12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8" name="Marcador de posición de tabla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109014" y="2137059"/>
            <a:ext cx="7059592" cy="398624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 dirty="0"/>
            </a:lvl1pPr>
          </a:lstStyle>
          <a:p>
            <a:pPr rtl="0"/>
            <a:r>
              <a:rPr lang="es-ES"/>
              <a:t>Haga clic en el icono para agregar una tabla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49C8ABD-000F-7A94-A7B0-9589F4FEF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DC3A554-E5A9-B3CB-913D-45DBFBA79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4E3A8DF3-F55A-2494-C55D-8FB94BBC6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79DC86E-6F8A-B036-5CB2-AA8A79837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9B9E0C03-C633-9356-4E28-678BAB7A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20C8A4F7-6C4C-719B-298F-3B81223D1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2E7E5D8B-D6BC-19AE-C0C9-249A55617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5" name="Marcador de contenido 3">
            <a:extLst>
              <a:ext uri="{FF2B5EF4-FFF2-40B4-BE49-F238E27FC236}">
                <a16:creationId xmlns:a16="http://schemas.microsoft.com/office/drawing/2014/main" id="{7A6C5266-7ECA-B150-2C0F-8670F43AC82D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38200" y="1987669"/>
            <a:ext cx="6974711" cy="429767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None/>
              <a:defRPr lang="es-ES" sz="1800"/>
            </a:lvl1pPr>
            <a:lvl2pPr>
              <a:spcBef>
                <a:spcPts val="1000"/>
              </a:spcBef>
              <a:spcAft>
                <a:spcPts val="500"/>
              </a:spcAft>
              <a:defRPr lang="es-ES" sz="1800"/>
            </a:lvl2pPr>
            <a:lvl3pPr>
              <a:spcBef>
                <a:spcPts val="1000"/>
              </a:spcBef>
              <a:spcAft>
                <a:spcPts val="500"/>
              </a:spcAft>
              <a:defRPr lang="es-ES" sz="1800"/>
            </a:lvl3pPr>
            <a:lvl4pPr>
              <a:spcBef>
                <a:spcPts val="1000"/>
              </a:spcBef>
              <a:spcAft>
                <a:spcPts val="500"/>
              </a:spcAft>
              <a:defRPr lang="es-ES" sz="1800"/>
            </a:lvl4pPr>
            <a:lvl5pPr>
              <a:spcBef>
                <a:spcPts val="1000"/>
              </a:spcBef>
              <a:spcAft>
                <a:spcPts val="500"/>
              </a:spcAft>
              <a:defRPr lang="es-ES" sz="18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17085" y="1987670"/>
            <a:ext cx="3436716" cy="429768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500"/>
              </a:spcAft>
              <a:buNone/>
              <a:defRPr lang="es-ES" sz="1800"/>
            </a:lvl1pPr>
            <a:lvl2pPr>
              <a:spcBef>
                <a:spcPts val="1000"/>
              </a:spcBef>
              <a:spcAft>
                <a:spcPts val="500"/>
              </a:spcAft>
              <a:defRPr lang="es-ES" sz="1600"/>
            </a:lvl2pPr>
            <a:lvl3pPr>
              <a:spcBef>
                <a:spcPts val="1000"/>
              </a:spcBef>
              <a:spcAft>
                <a:spcPts val="500"/>
              </a:spcAft>
              <a:defRPr lang="es-ES" sz="1400"/>
            </a:lvl3pPr>
            <a:lvl4pPr>
              <a:spcBef>
                <a:spcPts val="1000"/>
              </a:spcBef>
              <a:spcAft>
                <a:spcPts val="500"/>
              </a:spcAft>
              <a:defRPr lang="es-ES" sz="1200"/>
            </a:lvl4pPr>
            <a:lvl5pPr>
              <a:spcBef>
                <a:spcPts val="1000"/>
              </a:spcBef>
              <a:spcAft>
                <a:spcPts val="500"/>
              </a:spcAft>
              <a:defRPr lang="es-ES" sz="1200"/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37588714-FE55-FCEF-78C2-2A4D11ECD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3119718" cy="68580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BAF6BF02-4CD8-261B-BE58-05677EB94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1575"/>
            <a:ext cx="903768" cy="65436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1AF1F17-7A1F-BCA2-15C0-417928B4E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42863" y="5802775"/>
            <a:ext cx="6286501" cy="1066801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FF0ADE0B-D150-E72B-EE9A-E5EFDBC6F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59925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ABBCDD5A-A3C4-DF4F-74AD-CAF0F465B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59400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9430AE4-C878-DFAB-EDA5-36B97176D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11575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61487B2-0348-2FFC-03FB-6508B6FD3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6812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b" anchorCtr="0">
            <a:noAutofit/>
          </a:bodyPr>
          <a:lstStyle>
            <a:lvl1pPr>
              <a:defRPr lang="es-ES" sz="3600"/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8" name="Marcador de posición de tabla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8199" y="2125262"/>
            <a:ext cx="10515600" cy="3675944"/>
          </a:xfrm>
        </p:spPr>
        <p:txBody>
          <a:bodyPr rtlCol="0">
            <a:normAutofit/>
          </a:bodyPr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tabla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3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11843C0D-8C0B-0B3C-7014-7B7217C00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462964" y="5848350"/>
            <a:ext cx="3729036" cy="100965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F7B715CF-E60F-DDAE-369E-BCC2CE4FF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1543158" y="1647825"/>
            <a:ext cx="648842" cy="52101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2BD8F5F-4228-6BB9-5EA6-553590898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10781554" y="0"/>
            <a:ext cx="1410446" cy="4258340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9F721F95-97C0-7151-B9F6-C088CEA1A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6529388" y="-4763"/>
            <a:ext cx="5662612" cy="931975"/>
          </a:xfrm>
          <a:prstGeom prst="line">
            <a:avLst/>
          </a:prstGeom>
          <a:ln w="12700">
            <a:solidFill>
              <a:schemeClr val="accent3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Marcador de posición de imagen 13">
            <a:extLst>
              <a:ext uri="{FF2B5EF4-FFF2-40B4-BE49-F238E27FC236}">
                <a16:creationId xmlns:a16="http://schemas.microsoft.com/office/drawing/2014/main" id="{978AD50A-9C6A-454B-0CAD-EAB5184401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0" y="0"/>
            <a:ext cx="7816995" cy="6858000"/>
          </a:xfrm>
          <a:custGeom>
            <a:avLst/>
            <a:gdLst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0 w 7813675"/>
              <a:gd name="connsiteY3" fmla="*/ 6903720 h 6903720"/>
              <a:gd name="connsiteX4" fmla="*/ 0 w 7813675"/>
              <a:gd name="connsiteY4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98854 w 7813675"/>
              <a:gd name="connsiteY3" fmla="*/ 686716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803"/>
              <a:gd name="connsiteX1" fmla="*/ 7813675 w 7813675"/>
              <a:gd name="connsiteY1" fmla="*/ 0 h 6907803"/>
              <a:gd name="connsiteX2" fmla="*/ 7813675 w 7813675"/>
              <a:gd name="connsiteY2" fmla="*/ 6903720 h 6907803"/>
              <a:gd name="connsiteX3" fmla="*/ 809014 w 7813675"/>
              <a:gd name="connsiteY3" fmla="*/ 6907803 h 6907803"/>
              <a:gd name="connsiteX4" fmla="*/ 0 w 7813675"/>
              <a:gd name="connsiteY4" fmla="*/ 6903720 h 6907803"/>
              <a:gd name="connsiteX5" fmla="*/ 0 w 7813675"/>
              <a:gd name="connsiteY5" fmla="*/ 0 h 6907803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8748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80901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3720"/>
              <a:gd name="connsiteX1" fmla="*/ 7813675 w 7813675"/>
              <a:gd name="connsiteY1" fmla="*/ 0 h 6903720"/>
              <a:gd name="connsiteX2" fmla="*/ 7813675 w 7813675"/>
              <a:gd name="connsiteY2" fmla="*/ 6903720 h 6903720"/>
              <a:gd name="connsiteX3" fmla="*/ 740434 w 7813675"/>
              <a:gd name="connsiteY3" fmla="*/ 6898913 h 6903720"/>
              <a:gd name="connsiteX4" fmla="*/ 0 w 7813675"/>
              <a:gd name="connsiteY4" fmla="*/ 6903720 h 6903720"/>
              <a:gd name="connsiteX5" fmla="*/ 0 w 7813675"/>
              <a:gd name="connsiteY5" fmla="*/ 0 h 6903720"/>
              <a:gd name="connsiteX0" fmla="*/ 0 w 7813675"/>
              <a:gd name="connsiteY0" fmla="*/ 0 h 6907385"/>
              <a:gd name="connsiteX1" fmla="*/ 7813675 w 7813675"/>
              <a:gd name="connsiteY1" fmla="*/ 0 h 6907385"/>
              <a:gd name="connsiteX2" fmla="*/ 7813675 w 7813675"/>
              <a:gd name="connsiteY2" fmla="*/ 6903720 h 6907385"/>
              <a:gd name="connsiteX3" fmla="*/ 6359380 w 7813675"/>
              <a:gd name="connsiteY3" fmla="*/ 6907385 h 6907385"/>
              <a:gd name="connsiteX4" fmla="*/ 740434 w 7813675"/>
              <a:gd name="connsiteY4" fmla="*/ 6898913 h 6907385"/>
              <a:gd name="connsiteX5" fmla="*/ 0 w 7813675"/>
              <a:gd name="connsiteY5" fmla="*/ 6903720 h 6907385"/>
              <a:gd name="connsiteX6" fmla="*/ 0 w 7813675"/>
              <a:gd name="connsiteY6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3320 w 7816995"/>
              <a:gd name="connsiteY5" fmla="*/ 690372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7816995 w 7816995"/>
              <a:gd name="connsiteY2" fmla="*/ 690372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  <a:gd name="connsiteX0" fmla="*/ 3320 w 7816995"/>
              <a:gd name="connsiteY0" fmla="*/ 0 h 6907385"/>
              <a:gd name="connsiteX1" fmla="*/ 7816995 w 7816995"/>
              <a:gd name="connsiteY1" fmla="*/ 0 h 6907385"/>
              <a:gd name="connsiteX2" fmla="*/ 2899555 w 7816995"/>
              <a:gd name="connsiteY2" fmla="*/ 4648200 h 6907385"/>
              <a:gd name="connsiteX3" fmla="*/ 6362700 w 7816995"/>
              <a:gd name="connsiteY3" fmla="*/ 6907385 h 6907385"/>
              <a:gd name="connsiteX4" fmla="*/ 743754 w 7816995"/>
              <a:gd name="connsiteY4" fmla="*/ 6898913 h 6907385"/>
              <a:gd name="connsiteX5" fmla="*/ 2876060 w 7816995"/>
              <a:gd name="connsiteY5" fmla="*/ 4644390 h 6907385"/>
              <a:gd name="connsiteX6" fmla="*/ 0 w 7816995"/>
              <a:gd name="connsiteY6" fmla="*/ 2510645 h 6907385"/>
              <a:gd name="connsiteX7" fmla="*/ 3320 w 7816995"/>
              <a:gd name="connsiteY7" fmla="*/ 0 h 6907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16995" h="6907385">
                <a:moveTo>
                  <a:pt x="3320" y="0"/>
                </a:moveTo>
                <a:lnTo>
                  <a:pt x="7816995" y="0"/>
                </a:lnTo>
                <a:lnTo>
                  <a:pt x="2899555" y="4648200"/>
                </a:lnTo>
                <a:lnTo>
                  <a:pt x="6362700" y="6907385"/>
                </a:lnTo>
                <a:lnTo>
                  <a:pt x="743754" y="6898913"/>
                </a:lnTo>
                <a:lnTo>
                  <a:pt x="2876060" y="4644390"/>
                </a:lnTo>
                <a:cubicBezTo>
                  <a:pt x="1610033" y="3689302"/>
                  <a:pt x="1117437" y="3324763"/>
                  <a:pt x="0" y="2510645"/>
                </a:cubicBezTo>
                <a:cubicBezTo>
                  <a:pt x="1107" y="1673763"/>
                  <a:pt x="2213" y="836882"/>
                  <a:pt x="3320" y="0"/>
                </a:cubicBezTo>
                <a:close/>
              </a:path>
            </a:pathLst>
          </a:custGeom>
          <a:solidFill>
            <a:schemeClr val="tx2"/>
          </a:solidFill>
          <a:ln w="22225">
            <a:noFill/>
          </a:ln>
        </p:spPr>
        <p:txBody>
          <a:bodyPr lIns="274320" tIns="274320" rtlCol="0">
            <a:normAutofit/>
          </a:bodyPr>
          <a:lstStyle>
            <a:lvl1pPr marL="0" indent="0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rtlCol="0" anchor="b">
            <a:noAutofit/>
          </a:bodyPr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80992" y="4373217"/>
            <a:ext cx="4902843" cy="1753221"/>
          </a:xfrm>
        </p:spPr>
        <p:txBody>
          <a:bodyPr rtlCol="0" anchor="t" anchorCtr="0">
            <a:normAutofit/>
          </a:bodyPr>
          <a:lstStyle>
            <a:lvl1pPr marL="0" indent="0">
              <a:spcBef>
                <a:spcPts val="1000"/>
              </a:spcBef>
              <a:buNone/>
              <a:defRPr lang="es-ES" sz="1800">
                <a:solidFill>
                  <a:schemeClr val="tx1"/>
                </a:solidFill>
              </a:defRPr>
            </a:lvl1pPr>
            <a:lvl2pPr>
              <a:spcBef>
                <a:spcPts val="1000"/>
              </a:spcBef>
              <a:defRPr lang="es-ES" sz="1600">
                <a:solidFill>
                  <a:schemeClr val="tx1"/>
                </a:solidFill>
              </a:defRPr>
            </a:lvl2pPr>
            <a:lvl3pPr>
              <a:spcBef>
                <a:spcPts val="1000"/>
              </a:spcBef>
              <a:defRPr lang="es-ES" sz="1400">
                <a:solidFill>
                  <a:schemeClr val="tx1"/>
                </a:solidFill>
              </a:defRPr>
            </a:lvl3pPr>
            <a:lvl4pPr>
              <a:spcBef>
                <a:spcPts val="1000"/>
              </a:spcBef>
              <a:defRPr lang="es-ES" sz="1200">
                <a:solidFill>
                  <a:schemeClr val="tx1"/>
                </a:solidFill>
              </a:defRPr>
            </a:lvl4pPr>
            <a:lvl5pPr>
              <a:spcBef>
                <a:spcPts val="1000"/>
              </a:spcBef>
              <a:defRPr lang="es-ES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D6D8061D-18C3-4F4F-85EF-561633F58754}" type="datetimeFigureOut">
              <a:rPr lang="es-ES" smtClean="0"/>
              <a:t>17/01/2026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s-ES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CBD12358-51D2-46B3-9BDE-DF29528B94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8" r:id="rId3"/>
    <p:sldLayoutId id="2147483659" r:id="rId4"/>
    <p:sldLayoutId id="2147483650" r:id="rId5"/>
    <p:sldLayoutId id="2147483649" r:id="rId6"/>
    <p:sldLayoutId id="2147483662" r:id="rId7"/>
    <p:sldLayoutId id="2147483663" r:id="rId8"/>
    <p:sldLayoutId id="2147483652" r:id="rId9"/>
    <p:sldLayoutId id="2147483666" r:id="rId10"/>
    <p:sldLayoutId id="2147483664" r:id="rId11"/>
    <p:sldLayoutId id="2147483665" r:id="rId12"/>
    <p:sldLayoutId id="2147483661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4000" i="1" kern="1200" cap="all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8">
            <a:extLst>
              <a:ext uri="{FF2B5EF4-FFF2-40B4-BE49-F238E27FC236}">
                <a16:creationId xmlns:a16="http://schemas.microsoft.com/office/drawing/2014/main" id="{6FEC93CF-2672-7D78-F278-58C5E012E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2332" y="-592855"/>
            <a:ext cx="5826796" cy="3599727"/>
          </a:xfrm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00000"/>
              </a:lnSpc>
            </a:pPr>
            <a:r>
              <a:rPr lang="en-US" dirty="0"/>
              <a:t>Digital Twin Project – Server Performance</a:t>
            </a:r>
            <a:endParaRPr lang="es-ES" dirty="0"/>
          </a:p>
        </p:txBody>
      </p:sp>
      <p:pic>
        <p:nvPicPr>
          <p:cNvPr id="7" name="Marcador de posición de imagen 6" descr="Vista de una ciudad con rascacielos">
            <a:extLst>
              <a:ext uri="{FF2B5EF4-FFF2-40B4-BE49-F238E27FC236}">
                <a16:creationId xmlns:a16="http://schemas.microsoft.com/office/drawing/2014/main" id="{ED21B7CD-3D69-26B5-8A0B-52A19A6B0A2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" r="72"/>
          <a:stretch/>
        </p:blipFill>
        <p:spPr/>
      </p:pic>
      <p:sp>
        <p:nvSpPr>
          <p:cNvPr id="2" name="Título 8">
            <a:extLst>
              <a:ext uri="{FF2B5EF4-FFF2-40B4-BE49-F238E27FC236}">
                <a16:creationId xmlns:a16="http://schemas.microsoft.com/office/drawing/2014/main" id="{4DD3ABF4-CC26-BCB9-5E8A-CB335D570436}"/>
              </a:ext>
            </a:extLst>
          </p:cNvPr>
          <p:cNvSpPr txBox="1">
            <a:spLocks/>
          </p:cNvSpPr>
          <p:nvPr/>
        </p:nvSpPr>
        <p:spPr>
          <a:xfrm>
            <a:off x="355156" y="2503913"/>
            <a:ext cx="6109652" cy="359972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4400" i="1" kern="1200" cap="all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2400" dirty="0" err="1"/>
              <a:t>Course</a:t>
            </a:r>
            <a:r>
              <a:rPr lang="es-MX" sz="2400" dirty="0"/>
              <a:t>: Digital </a:t>
            </a:r>
            <a:r>
              <a:rPr lang="es-MX" sz="2400" dirty="0" err="1"/>
              <a:t>Twins</a:t>
            </a:r>
            <a:r>
              <a:rPr lang="es-MX" sz="2400" dirty="0"/>
              <a:t> (WS 2025/26)</a:t>
            </a:r>
          </a:p>
          <a:p>
            <a:r>
              <a:rPr lang="es-MX" sz="2400" dirty="0" err="1"/>
              <a:t>Montanuniversität</a:t>
            </a:r>
            <a:r>
              <a:rPr lang="es-MX" sz="2400" dirty="0"/>
              <a:t> </a:t>
            </a:r>
            <a:r>
              <a:rPr lang="es-MX" sz="2400" dirty="0" err="1"/>
              <a:t>Leoben</a:t>
            </a:r>
            <a:endParaRPr lang="es-MX" sz="2400" dirty="0"/>
          </a:p>
          <a:p>
            <a:endParaRPr lang="es-MX" sz="2400" dirty="0"/>
          </a:p>
          <a:p>
            <a:r>
              <a:rPr lang="es-MX" sz="2400" dirty="0" err="1"/>
              <a:t>Students</a:t>
            </a:r>
            <a:r>
              <a:rPr lang="es-MX" sz="2400" dirty="0"/>
              <a:t>:</a:t>
            </a:r>
          </a:p>
          <a:p>
            <a:r>
              <a:rPr lang="es-MX" sz="2400" dirty="0"/>
              <a:t>Harold Stiven Vargas H.</a:t>
            </a:r>
          </a:p>
          <a:p>
            <a:r>
              <a:rPr lang="es-MX" sz="2400" dirty="0"/>
              <a:t>Wilson Santiago Bonilla G.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8994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</p:spPr>
        <p:txBody>
          <a:bodyPr rtlCol="0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 dirty="0" err="1"/>
              <a:t>Index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 rtlCol="0" anchor="ctr">
            <a:normAutofit/>
          </a:bodyPr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Problem</a:t>
            </a:r>
            <a:r>
              <a:rPr lang="es-MX" dirty="0"/>
              <a:t> &amp; </a:t>
            </a:r>
            <a:r>
              <a:rPr lang="es-MX" dirty="0" err="1"/>
              <a:t>Motivation</a:t>
            </a:r>
            <a:endParaRPr lang="es-ES" dirty="0"/>
          </a:p>
          <a:p>
            <a:pPr>
              <a:lnSpc>
                <a:spcPct val="110000"/>
              </a:lnSpc>
            </a:pPr>
            <a:r>
              <a:rPr lang="es-MX" dirty="0" err="1"/>
              <a:t>Physical</a:t>
            </a:r>
            <a:r>
              <a:rPr lang="es-MX" dirty="0"/>
              <a:t> </a:t>
            </a:r>
            <a:r>
              <a:rPr lang="es-MX" dirty="0" err="1"/>
              <a:t>System</a:t>
            </a:r>
            <a:r>
              <a:rPr lang="es-MX" dirty="0"/>
              <a:t> &amp; DT </a:t>
            </a:r>
            <a:r>
              <a:rPr lang="es-MX" dirty="0" err="1"/>
              <a:t>Objective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/>
              <a:t>Data </a:t>
            </a:r>
            <a:r>
              <a:rPr lang="es-MX" dirty="0" err="1"/>
              <a:t>Sources</a:t>
            </a:r>
            <a:r>
              <a:rPr lang="es-MX" dirty="0"/>
              <a:t> &amp; Inputs</a:t>
            </a:r>
          </a:p>
          <a:p>
            <a:pPr>
              <a:lnSpc>
                <a:spcPct val="110000"/>
              </a:lnSpc>
            </a:pPr>
            <a:r>
              <a:rPr lang="es-MX" dirty="0"/>
              <a:t>Data Processing &amp; EDA</a:t>
            </a:r>
          </a:p>
          <a:p>
            <a:pPr>
              <a:lnSpc>
                <a:spcPct val="110000"/>
              </a:lnSpc>
            </a:pPr>
            <a:r>
              <a:rPr lang="es-MX" dirty="0" err="1"/>
              <a:t>Modeling</a:t>
            </a:r>
            <a:r>
              <a:rPr lang="es-MX" dirty="0"/>
              <a:t> </a:t>
            </a:r>
            <a:r>
              <a:rPr lang="es-MX" dirty="0" err="1"/>
              <a:t>Approach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/>
              <a:t>Digital Twin </a:t>
            </a:r>
            <a:r>
              <a:rPr lang="es-MX" dirty="0" err="1"/>
              <a:t>Architecture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 err="1"/>
              <a:t>Results</a:t>
            </a:r>
            <a:r>
              <a:rPr lang="es-MX" dirty="0"/>
              <a:t> &amp; </a:t>
            </a:r>
            <a:r>
              <a:rPr lang="es-MX" dirty="0" err="1"/>
              <a:t>Visualization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/>
              <a:t>Digital Twin </a:t>
            </a:r>
            <a:r>
              <a:rPr lang="es-MX" dirty="0" err="1"/>
              <a:t>Integration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 err="1"/>
              <a:t>Lessons</a:t>
            </a:r>
            <a:r>
              <a:rPr lang="es-MX" dirty="0"/>
              <a:t> </a:t>
            </a:r>
            <a:r>
              <a:rPr lang="es-MX" dirty="0" err="1"/>
              <a:t>Learned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 err="1"/>
              <a:t>Limitations</a:t>
            </a:r>
            <a:r>
              <a:rPr lang="es-MX" dirty="0"/>
              <a:t> &amp; </a:t>
            </a:r>
            <a:r>
              <a:rPr lang="es-MX" dirty="0" err="1"/>
              <a:t>Improvements</a:t>
            </a:r>
            <a:endParaRPr lang="es-MX" dirty="0"/>
          </a:p>
          <a:p>
            <a:pPr>
              <a:lnSpc>
                <a:spcPct val="110000"/>
              </a:lnSpc>
            </a:pPr>
            <a:r>
              <a:rPr lang="es-MX" dirty="0" err="1"/>
              <a:t>Conclusion</a:t>
            </a:r>
            <a:endParaRPr lang="es-ES" dirty="0"/>
          </a:p>
        </p:txBody>
      </p:sp>
      <p:pic>
        <p:nvPicPr>
          <p:cNvPr id="25" name="Marcador de posición de imagen 6" descr="Un horizonte urbano">
            <a:extLst>
              <a:ext uri="{FF2B5EF4-FFF2-40B4-BE49-F238E27FC236}">
                <a16:creationId xmlns:a16="http://schemas.microsoft.com/office/drawing/2014/main" id="{086C9520-C924-5732-CC82-F0C4A533D4E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" r="38"/>
          <a:stretch/>
        </p:blipFill>
        <p:spPr/>
      </p:pic>
    </p:spTree>
    <p:extLst>
      <p:ext uri="{BB962C8B-B14F-4D97-AF65-F5344CB8AC3E}">
        <p14:creationId xmlns:p14="http://schemas.microsoft.com/office/powerpoint/2010/main" val="1038351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6296" y="-2465873"/>
            <a:ext cx="9144000" cy="3361254"/>
          </a:xfrm>
          <a:noFill/>
        </p:spPr>
        <p:txBody>
          <a:bodyPr rtlCol="0" anchor="b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Problem</a:t>
            </a:r>
            <a:r>
              <a:rPr lang="es-MX" dirty="0"/>
              <a:t> &amp; </a:t>
            </a:r>
            <a:r>
              <a:rPr lang="es-MX" dirty="0" err="1"/>
              <a:t>Motivation</a:t>
            </a:r>
            <a:endParaRPr lang="es-ES" dirty="0"/>
          </a:p>
        </p:txBody>
      </p:sp>
      <p:pic>
        <p:nvPicPr>
          <p:cNvPr id="17" name="Marcador de posición de imagen 16" descr="Una ciudad con edificios altos">
            <a:extLst>
              <a:ext uri="{FF2B5EF4-FFF2-40B4-BE49-F238E27FC236}">
                <a16:creationId xmlns:a16="http://schemas.microsoft.com/office/drawing/2014/main" id="{4D6EE8D1-247A-B95F-BD1A-A2D76964CF3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" r="13"/>
          <a:stretch/>
        </p:blipFill>
        <p:spPr>
          <a:xfrm>
            <a:off x="-15240" y="6227064"/>
            <a:ext cx="12207240" cy="630936"/>
          </a:xfr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1742649-5624-A85D-1386-1734BD853F43}"/>
              </a:ext>
            </a:extLst>
          </p:cNvPr>
          <p:cNvSpPr txBox="1">
            <a:spLocks/>
          </p:cNvSpPr>
          <p:nvPr/>
        </p:nvSpPr>
        <p:spPr>
          <a:xfrm>
            <a:off x="1810512" y="1545336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/>
              <a:t>Modern servers </a:t>
            </a:r>
            <a:r>
              <a:rPr lang="es-MX" dirty="0" err="1"/>
              <a:t>operate</a:t>
            </a:r>
            <a:r>
              <a:rPr lang="es-MX" dirty="0"/>
              <a:t> </a:t>
            </a:r>
            <a:r>
              <a:rPr lang="es-MX" dirty="0" err="1"/>
              <a:t>under</a:t>
            </a:r>
            <a:r>
              <a:rPr lang="es-MX" dirty="0"/>
              <a:t> </a:t>
            </a:r>
            <a:r>
              <a:rPr lang="es-MX" dirty="0" err="1"/>
              <a:t>varying</a:t>
            </a:r>
            <a:r>
              <a:rPr lang="es-MX" dirty="0"/>
              <a:t> </a:t>
            </a:r>
            <a:r>
              <a:rPr lang="es-MX" dirty="0" err="1"/>
              <a:t>workloads</a:t>
            </a:r>
            <a:r>
              <a:rPr lang="es-MX" dirty="0"/>
              <a:t>.</a:t>
            </a:r>
          </a:p>
          <a:p>
            <a:endParaRPr lang="es-MX" dirty="0"/>
          </a:p>
          <a:p>
            <a:r>
              <a:rPr lang="es-MX" dirty="0" err="1"/>
              <a:t>Traditional</a:t>
            </a:r>
            <a:r>
              <a:rPr lang="es-MX" dirty="0"/>
              <a:t> </a:t>
            </a:r>
            <a:r>
              <a:rPr lang="es-MX" dirty="0" err="1"/>
              <a:t>monitoring</a:t>
            </a:r>
            <a:r>
              <a:rPr lang="es-MX" dirty="0"/>
              <a:t> </a:t>
            </a:r>
            <a:r>
              <a:rPr lang="es-MX" dirty="0" err="1"/>
              <a:t>tools</a:t>
            </a:r>
            <a:r>
              <a:rPr lang="es-MX" dirty="0"/>
              <a:t> </a:t>
            </a:r>
            <a:r>
              <a:rPr lang="es-MX" dirty="0" err="1"/>
              <a:t>provide</a:t>
            </a:r>
            <a:r>
              <a:rPr lang="es-MX" dirty="0"/>
              <a:t> </a:t>
            </a:r>
            <a:r>
              <a:rPr lang="es-MX" dirty="0" err="1"/>
              <a:t>metrics</a:t>
            </a:r>
            <a:r>
              <a:rPr lang="es-MX" dirty="0"/>
              <a:t> </a:t>
            </a:r>
            <a:r>
              <a:rPr lang="es-MX" dirty="0" err="1"/>
              <a:t>but</a:t>
            </a:r>
            <a:r>
              <a:rPr lang="es-MX" dirty="0"/>
              <a:t> </a:t>
            </a:r>
            <a:r>
              <a:rPr lang="es-MX" dirty="0" err="1"/>
              <a:t>lack</a:t>
            </a:r>
            <a:r>
              <a:rPr lang="es-MX" dirty="0"/>
              <a:t> </a:t>
            </a:r>
            <a:r>
              <a:rPr lang="es-MX" dirty="0" err="1"/>
              <a:t>system</a:t>
            </a:r>
            <a:r>
              <a:rPr lang="es-MX" dirty="0"/>
              <a:t> </a:t>
            </a:r>
            <a:r>
              <a:rPr lang="es-MX" dirty="0" err="1"/>
              <a:t>understanding</a:t>
            </a:r>
            <a:r>
              <a:rPr lang="es-MX" dirty="0"/>
              <a:t>.</a:t>
            </a:r>
          </a:p>
          <a:p>
            <a:endParaRPr lang="es-MX" dirty="0"/>
          </a:p>
          <a:p>
            <a:r>
              <a:rPr lang="es-MX" dirty="0" err="1"/>
              <a:t>This</a:t>
            </a:r>
            <a:r>
              <a:rPr lang="es-MX" dirty="0"/>
              <a:t> </a:t>
            </a:r>
            <a:r>
              <a:rPr lang="es-MX" dirty="0" err="1"/>
              <a:t>project</a:t>
            </a:r>
            <a:r>
              <a:rPr lang="es-MX" dirty="0"/>
              <a:t> </a:t>
            </a:r>
            <a:r>
              <a:rPr lang="es-MX" dirty="0" err="1"/>
              <a:t>develops</a:t>
            </a:r>
            <a:r>
              <a:rPr lang="es-MX" dirty="0"/>
              <a:t> a Digital Twin </a:t>
            </a:r>
            <a:r>
              <a:rPr lang="es-MX" dirty="0" err="1"/>
              <a:t>to</a:t>
            </a:r>
            <a:r>
              <a:rPr lang="es-MX" dirty="0"/>
              <a:t> </a:t>
            </a:r>
            <a:r>
              <a:rPr lang="es-MX" dirty="0" err="1"/>
              <a:t>mirror</a:t>
            </a:r>
            <a:r>
              <a:rPr lang="es-MX" dirty="0"/>
              <a:t> and </a:t>
            </a:r>
            <a:r>
              <a:rPr lang="es-MX" dirty="0" err="1"/>
              <a:t>analyze</a:t>
            </a:r>
            <a:r>
              <a:rPr lang="es-MX" dirty="0"/>
              <a:t> server </a:t>
            </a:r>
            <a:r>
              <a:rPr lang="es-MX" dirty="0" err="1"/>
              <a:t>behavior</a:t>
            </a:r>
            <a:r>
              <a:rPr lang="es-MX" dirty="0"/>
              <a:t> </a:t>
            </a:r>
            <a:r>
              <a:rPr lang="es-MX" dirty="0" err="1"/>
              <a:t>using</a:t>
            </a:r>
            <a:r>
              <a:rPr lang="es-MX" dirty="0"/>
              <a:t> </a:t>
            </a:r>
            <a:r>
              <a:rPr lang="es-MX" dirty="0" err="1"/>
              <a:t>internal</a:t>
            </a:r>
            <a:r>
              <a:rPr lang="es-MX" dirty="0"/>
              <a:t> </a:t>
            </a:r>
            <a:r>
              <a:rPr lang="es-MX" dirty="0" err="1"/>
              <a:t>telemetry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1088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9312" y="182880"/>
            <a:ext cx="10196640" cy="948088"/>
          </a:xfrm>
          <a:noFill/>
        </p:spPr>
        <p:txBody>
          <a:bodyPr rtlCol="0">
            <a:noAutofit/>
          </a:bodyPr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sz="4300" dirty="0" err="1"/>
              <a:t>Physical</a:t>
            </a:r>
            <a:r>
              <a:rPr lang="es-MX" sz="4300" dirty="0"/>
              <a:t> </a:t>
            </a:r>
            <a:r>
              <a:rPr lang="es-MX" sz="4300" dirty="0" err="1"/>
              <a:t>System</a:t>
            </a:r>
            <a:r>
              <a:rPr lang="es-MX" sz="4300" dirty="0"/>
              <a:t> &amp; DT </a:t>
            </a:r>
            <a:r>
              <a:rPr lang="es-MX" sz="4300" dirty="0" err="1"/>
              <a:t>Objective</a:t>
            </a:r>
            <a:endParaRPr lang="es-MX" sz="4300" dirty="0"/>
          </a:p>
        </p:txBody>
      </p:sp>
      <p:pic>
        <p:nvPicPr>
          <p:cNvPr id="43" name="Marcador de posición de imagen 42" descr="Un avión sobrevolando una ciudad">
            <a:extLst>
              <a:ext uri="{FF2B5EF4-FFF2-40B4-BE49-F238E27FC236}">
                <a16:creationId xmlns:a16="http://schemas.microsoft.com/office/drawing/2014/main" id="{9100BC91-12A3-DE75-3F38-9C17D39DC5E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" r="39"/>
          <a:stretch/>
        </p:blipFill>
        <p:spPr>
          <a:xfrm>
            <a:off x="10588752" y="-11576"/>
            <a:ext cx="1614823" cy="690372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56A0422-78ED-65D4-4953-234BD413E3C4}"/>
              </a:ext>
            </a:extLst>
          </p:cNvPr>
          <p:cNvSpPr txBox="1">
            <a:spLocks/>
          </p:cNvSpPr>
          <p:nvPr/>
        </p:nvSpPr>
        <p:spPr>
          <a:xfrm>
            <a:off x="1316736" y="1938528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800" b="1" kern="1200" cap="all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 err="1"/>
              <a:t>Physical</a:t>
            </a:r>
            <a:r>
              <a:rPr lang="es-MX" dirty="0"/>
              <a:t> </a:t>
            </a:r>
            <a:r>
              <a:rPr lang="es-MX" dirty="0" err="1"/>
              <a:t>system</a:t>
            </a:r>
            <a:r>
              <a:rPr lang="es-MX" dirty="0"/>
              <a:t>: A </a:t>
            </a:r>
            <a:r>
              <a:rPr lang="es-MX" dirty="0" err="1"/>
              <a:t>computing</a:t>
            </a:r>
            <a:r>
              <a:rPr lang="es-MX" dirty="0"/>
              <a:t> </a:t>
            </a:r>
            <a:r>
              <a:rPr lang="es-MX" dirty="0" err="1"/>
              <a:t>node</a:t>
            </a:r>
            <a:r>
              <a:rPr lang="es-MX" dirty="0"/>
              <a:t> (PC/server).</a:t>
            </a:r>
          </a:p>
          <a:p>
            <a:endParaRPr lang="es-MX" dirty="0"/>
          </a:p>
          <a:p>
            <a:r>
              <a:rPr lang="es-MX" dirty="0" err="1"/>
              <a:t>Objective</a:t>
            </a:r>
            <a:r>
              <a:rPr lang="es-MX" dirty="0"/>
              <a:t>: </a:t>
            </a:r>
            <a:r>
              <a:rPr lang="es-MX" dirty="0" err="1"/>
              <a:t>Create</a:t>
            </a:r>
            <a:r>
              <a:rPr lang="es-MX" dirty="0"/>
              <a:t> a </a:t>
            </a:r>
            <a:r>
              <a:rPr lang="es-MX" dirty="0" err="1"/>
              <a:t>diagnostic</a:t>
            </a:r>
            <a:r>
              <a:rPr lang="es-MX" dirty="0"/>
              <a:t> Digital Twin </a:t>
            </a:r>
            <a:r>
              <a:rPr lang="es-MX" dirty="0" err="1"/>
              <a:t>to</a:t>
            </a:r>
            <a:r>
              <a:rPr lang="es-MX" dirty="0"/>
              <a:t> observe, </a:t>
            </a:r>
            <a:r>
              <a:rPr lang="es-MX" dirty="0" err="1"/>
              <a:t>analyze</a:t>
            </a:r>
            <a:r>
              <a:rPr lang="es-MX" dirty="0"/>
              <a:t>, and </a:t>
            </a:r>
            <a:r>
              <a:rPr lang="es-MX" dirty="0" err="1"/>
              <a:t>understand</a:t>
            </a:r>
            <a:r>
              <a:rPr lang="es-MX" dirty="0"/>
              <a:t> </a:t>
            </a:r>
            <a:r>
              <a:rPr lang="es-MX" dirty="0" err="1"/>
              <a:t>system</a:t>
            </a:r>
            <a:r>
              <a:rPr lang="es-MX" dirty="0"/>
              <a:t> performance </a:t>
            </a:r>
            <a:r>
              <a:rPr lang="es-MX" dirty="0" err="1"/>
              <a:t>dynamics</a:t>
            </a:r>
            <a:r>
              <a:rPr lang="es-MX" dirty="0"/>
              <a:t>.</a:t>
            </a:r>
          </a:p>
          <a:p>
            <a:endParaRPr lang="es-MX" dirty="0"/>
          </a:p>
          <a:p>
            <a:r>
              <a:rPr lang="es-MX" dirty="0"/>
              <a:t>Focus </a:t>
            </a:r>
            <a:r>
              <a:rPr lang="es-MX" dirty="0" err="1"/>
              <a:t>is</a:t>
            </a:r>
            <a:r>
              <a:rPr lang="es-MX" dirty="0"/>
              <a:t> </a:t>
            </a:r>
            <a:r>
              <a:rPr lang="es-MX" dirty="0" err="1"/>
              <a:t>diagnostic</a:t>
            </a:r>
            <a:r>
              <a:rPr lang="es-MX" dirty="0"/>
              <a:t> and </a:t>
            </a:r>
            <a:r>
              <a:rPr lang="es-MX" dirty="0" err="1"/>
              <a:t>analytical</a:t>
            </a:r>
            <a:r>
              <a:rPr lang="es-MX" dirty="0"/>
              <a:t>, </a:t>
            </a:r>
            <a:r>
              <a:rPr lang="es-MX" dirty="0" err="1"/>
              <a:t>not</a:t>
            </a:r>
            <a:r>
              <a:rPr lang="es-MX" dirty="0"/>
              <a:t> control.</a:t>
            </a:r>
          </a:p>
        </p:txBody>
      </p:sp>
    </p:spTree>
    <p:extLst>
      <p:ext uri="{BB962C8B-B14F-4D97-AF65-F5344CB8AC3E}">
        <p14:creationId xmlns:p14="http://schemas.microsoft.com/office/powerpoint/2010/main" val="4242039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9181" y="209217"/>
            <a:ext cx="5841395" cy="657416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/>
              <a:t>Data </a:t>
            </a:r>
            <a:r>
              <a:rPr lang="es-MX" dirty="0" err="1"/>
              <a:t>Sources</a:t>
            </a:r>
            <a:r>
              <a:rPr lang="es-MX" dirty="0"/>
              <a:t> &amp; Inputs</a:t>
            </a:r>
          </a:p>
        </p:txBody>
      </p:sp>
      <p:pic>
        <p:nvPicPr>
          <p:cNvPr id="24" name="Marcador de posición de imagen 7" descr="Vista hacia arriba de edificios altos">
            <a:extLst>
              <a:ext uri="{FF2B5EF4-FFF2-40B4-BE49-F238E27FC236}">
                <a16:creationId xmlns:a16="http://schemas.microsoft.com/office/drawing/2014/main" id="{A672B903-78EE-718A-C122-69D51207883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49" t="61" b="61"/>
          <a:stretch>
            <a:fillRect/>
          </a:stretch>
        </p:blipFill>
        <p:spPr>
          <a:xfrm>
            <a:off x="0" y="-22860"/>
            <a:ext cx="1041916" cy="6903720"/>
          </a:xfrm>
          <a:noFill/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FDF9DB-E468-BBC5-B8E4-8B9977233154}"/>
              </a:ext>
            </a:extLst>
          </p:cNvPr>
          <p:cNvSpPr txBox="1">
            <a:spLocks/>
          </p:cNvSpPr>
          <p:nvPr/>
        </p:nvSpPr>
        <p:spPr>
          <a:xfrm>
            <a:off x="1981200" y="1591056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System telemetry collected using </a:t>
            </a:r>
            <a:r>
              <a:rPr lang="en-US" dirty="0" err="1"/>
              <a:t>psutil</a:t>
            </a:r>
            <a:r>
              <a:rPr lang="en-US" dirty="0"/>
              <a:t>:</a:t>
            </a:r>
          </a:p>
          <a:p>
            <a:r>
              <a:rPr lang="en-US" dirty="0"/>
              <a:t>• CPU utilization</a:t>
            </a:r>
          </a:p>
          <a:p>
            <a:r>
              <a:rPr lang="en-US" dirty="0"/>
              <a:t>• Memory usage</a:t>
            </a:r>
          </a:p>
          <a:p>
            <a:r>
              <a:rPr lang="en-US" dirty="0"/>
              <a:t>• Disk I/O</a:t>
            </a:r>
          </a:p>
          <a:p>
            <a:r>
              <a:rPr lang="en-US" dirty="0"/>
              <a:t>• Network activity</a:t>
            </a:r>
          </a:p>
          <a:p>
            <a:r>
              <a:rPr lang="en-US" dirty="0"/>
              <a:t>• Process count</a:t>
            </a:r>
          </a:p>
          <a:p>
            <a:endParaRPr lang="en-US" dirty="0"/>
          </a:p>
          <a:p>
            <a:r>
              <a:rPr lang="en-US" dirty="0"/>
              <a:t>Time-series data sampled every second.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2688" y="-2223498"/>
            <a:ext cx="9540240" cy="3136738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/>
              <a:t>Data Processing &amp; EDA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2141A0C-1A4F-7572-FBA2-C63F57B87BAA}"/>
              </a:ext>
            </a:extLst>
          </p:cNvPr>
          <p:cNvSpPr txBox="1">
            <a:spLocks/>
          </p:cNvSpPr>
          <p:nvPr/>
        </p:nvSpPr>
        <p:spPr>
          <a:xfrm>
            <a:off x="1719072" y="173736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800" b="1" kern="1200" cap="all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b="0">
                <a:solidFill>
                  <a:schemeClr val="tx1"/>
                </a:solidFill>
              </a:rPr>
              <a:t>Data cleaning:</a:t>
            </a:r>
          </a:p>
          <a:p>
            <a:pPr algn="l"/>
            <a:r>
              <a:rPr lang="es-MX" b="0">
                <a:solidFill>
                  <a:schemeClr val="tx1"/>
                </a:solidFill>
              </a:rPr>
              <a:t>• Handling missing values</a:t>
            </a:r>
          </a:p>
          <a:p>
            <a:pPr algn="l"/>
            <a:r>
              <a:rPr lang="es-MX" b="0">
                <a:solidFill>
                  <a:schemeClr val="tx1"/>
                </a:solidFill>
              </a:rPr>
              <a:t>• Time alignment</a:t>
            </a:r>
          </a:p>
          <a:p>
            <a:pPr algn="l"/>
            <a:r>
              <a:rPr lang="es-MX" b="0">
                <a:solidFill>
                  <a:schemeClr val="tx1"/>
                </a:solidFill>
              </a:rPr>
              <a:t>• Resampling to minute-level</a:t>
            </a:r>
          </a:p>
          <a:p>
            <a:pPr algn="l"/>
            <a:endParaRPr lang="es-MX" b="0">
              <a:solidFill>
                <a:schemeClr val="tx1"/>
              </a:solidFill>
            </a:endParaRPr>
          </a:p>
          <a:p>
            <a:pPr algn="l"/>
            <a:r>
              <a:rPr lang="es-MX" b="0">
                <a:solidFill>
                  <a:schemeClr val="tx1"/>
                </a:solidFill>
              </a:rPr>
              <a:t>EDA revealed:</a:t>
            </a:r>
          </a:p>
          <a:p>
            <a:pPr algn="l"/>
            <a:r>
              <a:rPr lang="es-MX" b="0">
                <a:solidFill>
                  <a:schemeClr val="tx1"/>
                </a:solidFill>
              </a:rPr>
              <a:t>• Load-driven spikes</a:t>
            </a:r>
          </a:p>
          <a:p>
            <a:pPr algn="l"/>
            <a:r>
              <a:rPr lang="es-MX" b="0">
                <a:solidFill>
                  <a:schemeClr val="tx1"/>
                </a:solidFill>
              </a:rPr>
              <a:t>• Disk saturation patterns</a:t>
            </a:r>
          </a:p>
          <a:p>
            <a:pPr algn="l"/>
            <a:r>
              <a:rPr lang="es-MX" b="0">
                <a:solidFill>
                  <a:schemeClr val="tx1"/>
                </a:solidFill>
              </a:rPr>
              <a:t>• Correlated CPU–disk events</a:t>
            </a:r>
            <a:endParaRPr lang="es-MX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961" y="-293398"/>
            <a:ext cx="10515600" cy="1325563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Modeling</a:t>
            </a:r>
            <a:r>
              <a:rPr lang="es-MX" dirty="0"/>
              <a:t> </a:t>
            </a:r>
            <a:r>
              <a:rPr lang="es-MX" dirty="0" err="1"/>
              <a:t>Approach</a:t>
            </a:r>
            <a:endParaRPr lang="es-MX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86F3CE1-107C-B25E-0E33-AF8633FBA508}"/>
              </a:ext>
            </a:extLst>
          </p:cNvPr>
          <p:cNvSpPr txBox="1">
            <a:spLocks/>
          </p:cNvSpPr>
          <p:nvPr/>
        </p:nvSpPr>
        <p:spPr>
          <a:xfrm>
            <a:off x="978408" y="1379637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State-based analytical model.</a:t>
            </a:r>
          </a:p>
          <a:p>
            <a:endParaRPr lang="en-US" sz="2400" dirty="0"/>
          </a:p>
          <a:p>
            <a:r>
              <a:rPr lang="en-US" sz="2400" dirty="0"/>
              <a:t>System states:</a:t>
            </a:r>
          </a:p>
          <a:p>
            <a:r>
              <a:rPr lang="en-US" sz="2400" dirty="0"/>
              <a:t>• Idle</a:t>
            </a:r>
          </a:p>
          <a:p>
            <a:r>
              <a:rPr lang="en-US" sz="2400" dirty="0"/>
              <a:t>• Moderate load</a:t>
            </a:r>
          </a:p>
          <a:p>
            <a:r>
              <a:rPr lang="en-US" sz="2400" dirty="0"/>
              <a:t>• High load</a:t>
            </a:r>
          </a:p>
          <a:p>
            <a:endParaRPr lang="en-US" sz="2400" dirty="0"/>
          </a:p>
          <a:p>
            <a:r>
              <a:rPr lang="en-US" sz="2400" dirty="0"/>
              <a:t>Transitions observed empirically from telemetry patterns.</a:t>
            </a:r>
          </a:p>
          <a:p>
            <a:endParaRPr lang="en-US" sz="2400" dirty="0"/>
          </a:p>
          <a:p>
            <a:r>
              <a:rPr lang="en-US" sz="2400" dirty="0"/>
              <a:t>Chosen for interpretability and DT integration.</a:t>
            </a:r>
          </a:p>
        </p:txBody>
      </p:sp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48" y="-384683"/>
            <a:ext cx="10515600" cy="1325563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/>
              <a:t>Digital Twin </a:t>
            </a:r>
            <a:r>
              <a:rPr lang="es-MX" dirty="0" err="1"/>
              <a:t>Architecture</a:t>
            </a:r>
            <a:endParaRPr lang="es-MX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B803D7F-1B83-3A57-A911-29464DB5A2EA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 err="1"/>
              <a:t>Physical</a:t>
            </a:r>
            <a:r>
              <a:rPr lang="es-MX" dirty="0"/>
              <a:t> </a:t>
            </a:r>
            <a:r>
              <a:rPr lang="es-MX" dirty="0" err="1"/>
              <a:t>system</a:t>
            </a:r>
            <a:r>
              <a:rPr lang="es-MX" dirty="0"/>
              <a:t> → </a:t>
            </a:r>
            <a:r>
              <a:rPr lang="es-MX" dirty="0" err="1"/>
              <a:t>Sensors</a:t>
            </a:r>
            <a:r>
              <a:rPr lang="es-MX" dirty="0"/>
              <a:t> → Data </a:t>
            </a:r>
            <a:r>
              <a:rPr lang="es-MX" dirty="0" err="1"/>
              <a:t>preprocessing</a:t>
            </a:r>
            <a:r>
              <a:rPr lang="es-MX" dirty="0"/>
              <a:t> → </a:t>
            </a:r>
            <a:r>
              <a:rPr lang="es-MX" dirty="0" err="1"/>
              <a:t>State</a:t>
            </a:r>
            <a:r>
              <a:rPr lang="es-MX" dirty="0"/>
              <a:t> </a:t>
            </a:r>
            <a:r>
              <a:rPr lang="es-MX" dirty="0" err="1"/>
              <a:t>model</a:t>
            </a:r>
            <a:r>
              <a:rPr lang="es-MX" dirty="0"/>
              <a:t> → </a:t>
            </a:r>
            <a:r>
              <a:rPr lang="es-MX" dirty="0" err="1"/>
              <a:t>Indicators</a:t>
            </a:r>
            <a:endParaRPr lang="es-MX" dirty="0"/>
          </a:p>
          <a:p>
            <a:endParaRPr lang="es-MX" dirty="0"/>
          </a:p>
          <a:p>
            <a:r>
              <a:rPr lang="es-MX" dirty="0" err="1"/>
              <a:t>Feedback</a:t>
            </a:r>
            <a:r>
              <a:rPr lang="es-MX" dirty="0"/>
              <a:t> </a:t>
            </a:r>
            <a:r>
              <a:rPr lang="es-MX" dirty="0" err="1"/>
              <a:t>loop</a:t>
            </a:r>
            <a:r>
              <a:rPr lang="es-MX" dirty="0"/>
              <a:t> </a:t>
            </a:r>
            <a:r>
              <a:rPr lang="es-MX" dirty="0" err="1"/>
              <a:t>enables</a:t>
            </a:r>
            <a:r>
              <a:rPr lang="es-MX" dirty="0"/>
              <a:t> </a:t>
            </a:r>
            <a:r>
              <a:rPr lang="es-MX" dirty="0" err="1"/>
              <a:t>comparison</a:t>
            </a:r>
            <a:r>
              <a:rPr lang="es-MX" dirty="0"/>
              <a:t> </a:t>
            </a:r>
            <a:r>
              <a:rPr lang="es-MX" dirty="0" err="1"/>
              <a:t>between</a:t>
            </a:r>
            <a:r>
              <a:rPr lang="es-MX" dirty="0"/>
              <a:t> real </a:t>
            </a:r>
            <a:r>
              <a:rPr lang="es-MX" dirty="0" err="1"/>
              <a:t>system</a:t>
            </a:r>
            <a:r>
              <a:rPr lang="es-MX" dirty="0"/>
              <a:t> and </a:t>
            </a:r>
            <a:r>
              <a:rPr lang="es-MX" dirty="0" err="1"/>
              <a:t>twin</a:t>
            </a:r>
            <a:r>
              <a:rPr lang="es-MX" dirty="0"/>
              <a:t>.</a:t>
            </a:r>
          </a:p>
          <a:p>
            <a:endParaRPr lang="es-MX" dirty="0"/>
          </a:p>
          <a:p>
            <a:r>
              <a:rPr lang="es-MX" dirty="0" err="1"/>
              <a:t>Architecture</a:t>
            </a:r>
            <a:r>
              <a:rPr lang="es-MX" dirty="0"/>
              <a:t> </a:t>
            </a:r>
            <a:r>
              <a:rPr lang="es-MX" dirty="0" err="1"/>
              <a:t>supports</a:t>
            </a:r>
            <a:r>
              <a:rPr lang="es-MX" dirty="0"/>
              <a:t> </a:t>
            </a:r>
            <a:r>
              <a:rPr lang="es-MX" dirty="0" err="1"/>
              <a:t>monitoring</a:t>
            </a:r>
            <a:r>
              <a:rPr lang="es-MX" dirty="0"/>
              <a:t> and diagnosis.</a:t>
            </a:r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375539"/>
            <a:ext cx="6645965" cy="1325563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Results</a:t>
            </a:r>
            <a:r>
              <a:rPr lang="es-MX" dirty="0"/>
              <a:t> &amp; </a:t>
            </a:r>
            <a:r>
              <a:rPr lang="es-MX" dirty="0" err="1"/>
              <a:t>Visualization</a:t>
            </a:r>
            <a:endParaRPr lang="es-MX" dirty="0"/>
          </a:p>
        </p:txBody>
      </p:sp>
      <p:pic>
        <p:nvPicPr>
          <p:cNvPr id="20" name="Marcador de posición de imagen 19" descr="Luces de la ciudad por la noche">
            <a:extLst>
              <a:ext uri="{FF2B5EF4-FFF2-40B4-BE49-F238E27FC236}">
                <a16:creationId xmlns:a16="http://schemas.microsoft.com/office/drawing/2014/main" id="{E5D7764F-CE06-1A00-3555-ACAE6ACDFE1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79" t="236" r="26690" b="-132"/>
          <a:stretch>
            <a:fillRect/>
          </a:stretch>
        </p:blipFill>
        <p:spPr>
          <a:xfrm>
            <a:off x="10863072" y="-22860"/>
            <a:ext cx="1338072" cy="690372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569191B-8D85-24E4-5B07-58C733D04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36776"/>
            <a:ext cx="8229600" cy="4525963"/>
          </a:xfrm>
        </p:spPr>
        <p:txBody>
          <a:bodyPr/>
          <a:lstStyle/>
          <a:p>
            <a:r>
              <a:rPr dirty="0"/>
              <a:t>Power BI dashboard visualizes:</a:t>
            </a:r>
          </a:p>
          <a:p>
            <a:r>
              <a:rPr dirty="0"/>
              <a:t>• Resource utilization over time</a:t>
            </a:r>
          </a:p>
          <a:p>
            <a:r>
              <a:rPr dirty="0"/>
              <a:t>• Peak events</a:t>
            </a:r>
          </a:p>
          <a:p>
            <a:r>
              <a:rPr dirty="0"/>
              <a:t>• System state evolution</a:t>
            </a:r>
          </a:p>
          <a:p>
            <a:endParaRPr dirty="0"/>
          </a:p>
          <a:p>
            <a:r>
              <a:rPr dirty="0"/>
              <a:t>Used for monitoring and diagnostic insight.</a:t>
            </a:r>
          </a:p>
        </p:txBody>
      </p:sp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dd-in_Banner">
            <a:extLst>
              <a:ext uri="{FF2B5EF4-FFF2-40B4-BE49-F238E27FC236}">
                <a16:creationId xmlns:a16="http://schemas.microsoft.com/office/drawing/2014/main" id="{3A30FB22-F368-4CB2-D391-EC21745707D5}"/>
              </a:ext>
            </a:extLst>
          </p:cNvPr>
          <p:cNvSpPr txBox="1">
            <a:spLocks/>
          </p:cNvSpPr>
          <p:nvPr/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3600" i="1" kern="1200" cap="all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Add-in_Icon" descr="Icono de Microsoft Power BI.">
            <a:extLst>
              <a:ext uri="{FF2B5EF4-FFF2-40B4-BE49-F238E27FC236}">
                <a16:creationId xmlns:a16="http://schemas.microsoft.com/office/drawing/2014/main" id="{925F527C-0053-D686-AAEA-6F2B90C4724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7" name="Add-in" descr="Contenido de complemento para Microsoft Power BI.">
                <a:extLst>
                  <a:ext uri="{FF2B5EF4-FFF2-40B4-BE49-F238E27FC236}">
                    <a16:creationId xmlns:a16="http://schemas.microsoft.com/office/drawing/2014/main" id="{7451A9BC-A222-E697-B28C-B1BF2517B1F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7" name="Add-in" descr="Contenido de complemento para Microsoft Power BI.">
                <a:extLst>
                  <a:ext uri="{FF2B5EF4-FFF2-40B4-BE49-F238E27FC236}">
                    <a16:creationId xmlns:a16="http://schemas.microsoft.com/office/drawing/2014/main" id="{7451A9BC-A222-E697-B28C-B1BF2517B1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12581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27FA530-B6C4-B481-2DA1-9282F2E15F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139" y="437983"/>
            <a:ext cx="10611553" cy="5571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650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637" y="-202122"/>
            <a:ext cx="10330405" cy="1325563"/>
          </a:xfrm>
          <a:noFill/>
        </p:spPr>
        <p:txBody>
          <a:bodyPr rtlCol="0">
            <a:noAutofit/>
          </a:bodyPr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/>
              <a:t>Digital Twin </a:t>
            </a:r>
            <a:r>
              <a:rPr lang="es-MX" dirty="0" err="1"/>
              <a:t>Integration</a:t>
            </a:r>
            <a:endParaRPr lang="es-MX" dirty="0"/>
          </a:p>
        </p:txBody>
      </p:sp>
      <p:graphicFrame>
        <p:nvGraphicFramePr>
          <p:cNvPr id="3" name="Marcador de posición de la tabla 2">
            <a:extLst>
              <a:ext uri="{FF2B5EF4-FFF2-40B4-BE49-F238E27FC236}">
                <a16:creationId xmlns:a16="http://schemas.microsoft.com/office/drawing/2014/main" id="{F01CF5D3-D3B1-1944-CFDF-D8EE11DE42A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132532233"/>
              </p:ext>
            </p:extLst>
          </p:nvPr>
        </p:nvGraphicFramePr>
        <p:xfrm>
          <a:off x="4108450" y="2136775"/>
          <a:ext cx="7059592" cy="4260565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76489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1764898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764898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764898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511525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Métrico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Medida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Objetivo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Real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58296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Asistencia del público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N.º de asistentes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58296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Duración de la interacción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Minutos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58296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Interacción de preguntas y respuestas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N.º de preguntas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582969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Comentarios positivos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Porcentaje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832813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Tasa de retención de información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Porcentaje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552838-2C5F-EFB0-D4A2-381DDAB58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dirty="0"/>
              <a:t>Inputs:</a:t>
            </a:r>
          </a:p>
          <a:p>
            <a:r>
              <a:rPr dirty="0"/>
              <a:t>• Real-time telemetry</a:t>
            </a:r>
          </a:p>
          <a:p>
            <a:r>
              <a:rPr dirty="0"/>
              <a:t>• Historical datasets</a:t>
            </a:r>
          </a:p>
          <a:p>
            <a:endParaRPr dirty="0"/>
          </a:p>
          <a:p>
            <a:r>
              <a:rPr dirty="0"/>
              <a:t>Outputs:</a:t>
            </a:r>
          </a:p>
          <a:p>
            <a:r>
              <a:rPr dirty="0"/>
              <a:t>• System state</a:t>
            </a:r>
          </a:p>
          <a:p>
            <a:r>
              <a:rPr dirty="0"/>
              <a:t>• Performance indicators</a:t>
            </a:r>
          </a:p>
          <a:p>
            <a:r>
              <a:rPr dirty="0"/>
              <a:t>• Diagnostic insights</a:t>
            </a:r>
          </a:p>
          <a:p>
            <a:endParaRPr dirty="0"/>
          </a:p>
          <a:p>
            <a:r>
              <a:rPr dirty="0"/>
              <a:t>Twin updated continuously.</a:t>
            </a:r>
          </a:p>
        </p:txBody>
      </p:sp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2427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Lessons</a:t>
            </a:r>
            <a:r>
              <a:rPr lang="es-MX" dirty="0"/>
              <a:t> </a:t>
            </a:r>
            <a:r>
              <a:rPr lang="es-MX" dirty="0" err="1"/>
              <a:t>Learned</a:t>
            </a:r>
            <a:endParaRPr lang="es-MX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41E876-45D7-2082-BD4B-3A88D70215FE}"/>
              </a:ext>
            </a:extLst>
          </p:cNvPr>
          <p:cNvSpPr txBox="1">
            <a:spLocks/>
          </p:cNvSpPr>
          <p:nvPr/>
        </p:nvSpPr>
        <p:spPr>
          <a:xfrm>
            <a:off x="1005840" y="1627632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What worked:</a:t>
            </a:r>
          </a:p>
          <a:p>
            <a:r>
              <a:rPr lang="en-US"/>
              <a:t>• Controlled workload experiments</a:t>
            </a:r>
          </a:p>
          <a:p>
            <a:r>
              <a:rPr lang="en-US"/>
              <a:t>• Time-series analysis</a:t>
            </a:r>
          </a:p>
          <a:p>
            <a:r>
              <a:rPr lang="en-US"/>
              <a:t>• Dashboard-based monitoring</a:t>
            </a:r>
          </a:p>
          <a:p>
            <a:endParaRPr lang="en-US"/>
          </a:p>
          <a:p>
            <a:r>
              <a:rPr lang="en-US"/>
              <a:t>What did not:</a:t>
            </a:r>
          </a:p>
          <a:p>
            <a:r>
              <a:rPr lang="en-US"/>
              <a:t>• No real-time control or forecasting implemented.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0134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Limitations</a:t>
            </a:r>
            <a:r>
              <a:rPr lang="es-MX" dirty="0"/>
              <a:t> &amp; </a:t>
            </a:r>
            <a:r>
              <a:rPr lang="es-MX" dirty="0" err="1"/>
              <a:t>Improvements</a:t>
            </a:r>
            <a:endParaRPr lang="es-MX" dirty="0"/>
          </a:p>
        </p:txBody>
      </p:sp>
      <p:graphicFrame>
        <p:nvGraphicFramePr>
          <p:cNvPr id="19" name="Marcador de posición de tabla 3">
            <a:extLst>
              <a:ext uri="{FF2B5EF4-FFF2-40B4-BE49-F238E27FC236}">
                <a16:creationId xmlns:a16="http://schemas.microsoft.com/office/drawing/2014/main" id="{998759BF-36E2-2AC0-C9B8-88C6BF075154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2440822416"/>
              </p:ext>
            </p:extLst>
          </p:nvPr>
        </p:nvGraphicFramePr>
        <p:xfrm>
          <a:off x="6976872" y="1220407"/>
          <a:ext cx="6004560" cy="548640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50114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150114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150114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150114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98946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Factor de impacto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Medida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Objetivo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Logrado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598946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Interacción del público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Porcentaje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598946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Retención de conocimientos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Porcentaje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1578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Encuestas posteriores a la presentación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Clasificación media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4,2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4,5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598946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Tasa de recomendación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Porcentaje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15787"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Oportunidades de colaboración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N.º de oportunidades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>
                          <a:latin typeface="+mn-lt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es-ES"/>
                      </a:defPPr>
                    </a:lstStyle>
                    <a:p>
                      <a:pPr algn="ctr" rtl="0"/>
                      <a:r>
                        <a:rPr lang="es-ES" b="0" i="0" dirty="0">
                          <a:latin typeface="+mn-lt"/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D8F47-8FF3-F565-A5A6-11122E005165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Limitations:</a:t>
            </a:r>
          </a:p>
          <a:p>
            <a:r>
              <a:rPr lang="en-US"/>
              <a:t>• Diagnostic-only DT</a:t>
            </a:r>
          </a:p>
          <a:p>
            <a:r>
              <a:rPr lang="en-US"/>
              <a:t>• No predictive or prescriptive control</a:t>
            </a:r>
          </a:p>
          <a:p>
            <a:endParaRPr lang="en-US"/>
          </a:p>
          <a:p>
            <a:r>
              <a:rPr lang="en-US"/>
              <a:t>Next steps:</a:t>
            </a:r>
          </a:p>
          <a:p>
            <a:r>
              <a:rPr lang="en-US"/>
              <a:t>• Forecasting</a:t>
            </a:r>
          </a:p>
          <a:p>
            <a:r>
              <a:rPr lang="en-US"/>
              <a:t>• Anomaly detection</a:t>
            </a:r>
          </a:p>
          <a:p>
            <a:r>
              <a:rPr lang="en-US"/>
              <a:t>• Alerting mechanisms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78EF4-BA5B-86E2-04CE-9CFF421F3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778970-DD54-6C8A-846A-24A8C9CA3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0134"/>
          </a:xfrm>
          <a:noFill/>
        </p:spPr>
        <p:txBody>
          <a:bodyPr rtlCol="0"/>
          <a:lstStyle>
            <a:defPPr>
              <a:defRPr lang="es-ES"/>
            </a:defPPr>
          </a:lstStyle>
          <a:p>
            <a:pPr>
              <a:lnSpc>
                <a:spcPct val="110000"/>
              </a:lnSpc>
            </a:pPr>
            <a:r>
              <a:rPr lang="es-MX" dirty="0" err="1"/>
              <a:t>Conclusion</a:t>
            </a:r>
            <a:endParaRPr lang="es-E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4A405D5-22ED-B3C3-64DD-77CB6EEF69A8}"/>
              </a:ext>
            </a:extLst>
          </p:cNvPr>
          <p:cNvSpPr txBox="1">
            <a:spLocks/>
          </p:cNvSpPr>
          <p:nvPr/>
        </p:nvSpPr>
        <p:spPr>
          <a:xfrm>
            <a:off x="941832" y="1700252"/>
            <a:ext cx="8229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project demonstrates a valid Digital Twin implementation.</a:t>
            </a:r>
          </a:p>
          <a:p>
            <a:endParaRPr lang="en-US" dirty="0"/>
          </a:p>
          <a:p>
            <a:r>
              <a:rPr lang="en-US" dirty="0"/>
              <a:t>It integrates data, models, and visualization to represent a real system.</a:t>
            </a:r>
          </a:p>
          <a:p>
            <a:endParaRPr lang="en-US" dirty="0"/>
          </a:p>
          <a:p>
            <a:r>
              <a:rPr lang="en-US" dirty="0"/>
              <a:t>Forms a foundation for advanced DT capabilities.</a:t>
            </a:r>
          </a:p>
        </p:txBody>
      </p:sp>
    </p:spTree>
    <p:extLst>
      <p:ext uri="{BB962C8B-B14F-4D97-AF65-F5344CB8AC3E}">
        <p14:creationId xmlns:p14="http://schemas.microsoft.com/office/powerpoint/2010/main" val="3238683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Marcador de posición de imagen 5" descr="Primer plano de un puente con cables">
            <a:extLst>
              <a:ext uri="{FF2B5EF4-FFF2-40B4-BE49-F238E27FC236}">
                <a16:creationId xmlns:a16="http://schemas.microsoft.com/office/drawing/2014/main" id="{E461669C-A7BA-D639-22CB-B5FBBE698B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" r="20"/>
          <a:stretch/>
        </p:blipFill>
        <p:spPr>
          <a:xfrm>
            <a:off x="0" y="0"/>
            <a:ext cx="7816995" cy="6858000"/>
          </a:xfrm>
          <a:noFill/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992" y="731562"/>
            <a:ext cx="4902843" cy="3526778"/>
          </a:xfrm>
          <a:noFill/>
        </p:spPr>
        <p:txBody>
          <a:bodyPr rtlCol="0" anchor="b"/>
          <a:lstStyle>
            <a:defPPr>
              <a:defRPr lang="es-ES"/>
            </a:defPPr>
          </a:lstStyle>
          <a:p>
            <a:pPr rtl="0"/>
            <a:r>
              <a:rPr lang="es-ES" dirty="0" err="1"/>
              <a:t>Thanks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992" y="4373217"/>
            <a:ext cx="4902843" cy="1753221"/>
          </a:xfrm>
          <a:noFill/>
        </p:spPr>
        <p:txBody>
          <a:bodyPr rtlCol="0" anchor="t">
            <a:normAutofit/>
          </a:bodyPr>
          <a:lstStyle>
            <a:defPPr>
              <a:defRPr lang="es-ES"/>
            </a:defPPr>
          </a:lstStyle>
          <a:p>
            <a:r>
              <a:rPr lang="es-MX" dirty="0"/>
              <a:t>Harold Stiven Vargas H.</a:t>
            </a:r>
          </a:p>
          <a:p>
            <a:r>
              <a:rPr lang="es-MX" dirty="0"/>
              <a:t>Wilson Santiago Bonilla G.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theme/theme1.xml><?xml version="1.0" encoding="utf-8"?>
<a:theme xmlns:a="http://schemas.openxmlformats.org/drawingml/2006/main" name="AngleLinesVTI">
  <a:themeElements>
    <a:clrScheme name="Custom 43">
      <a:dk1>
        <a:srgbClr val="000000"/>
      </a:dk1>
      <a:lt1>
        <a:srgbClr val="FFFFFF"/>
      </a:lt1>
      <a:dk2>
        <a:srgbClr val="EFEBEB"/>
      </a:dk2>
      <a:lt2>
        <a:srgbClr val="E8E8E8"/>
      </a:lt2>
      <a:accent1>
        <a:srgbClr val="001D2E"/>
      </a:accent1>
      <a:accent2>
        <a:srgbClr val="145766"/>
      </a:accent2>
      <a:accent3>
        <a:srgbClr val="B99B9F"/>
      </a:accent3>
      <a:accent4>
        <a:srgbClr val="A47930"/>
      </a:accent4>
      <a:accent5>
        <a:srgbClr val="0C577C"/>
      </a:accent5>
      <a:accent6>
        <a:srgbClr val="CC836D"/>
      </a:accent6>
      <a:hlink>
        <a:srgbClr val="467886"/>
      </a:hlink>
      <a:folHlink>
        <a:srgbClr val="96607D"/>
      </a:folHlink>
    </a:clrScheme>
    <a:fontScheme name="Custom 98">
      <a:majorFont>
        <a:latin typeface="Walbaum Display Light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ngle lines design_Win32_SL_V15" id="{7EDC6EF7-8AD3-4A22-B09A-9C2D96F216F8}" vid="{B0E828C9-6219-42BF-B63C-156B68E5CCE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6AF5396E-7F98-4AAA-AC68-57F061A20CBB}">
  <we:reference id="WA200003233" version="2.0.0.3" store="es-E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Z32/bNhD+VwK99MUtSFGSJb+lbgYUbQYjyfoyBMaRPDlqZUmgqCxekP+9R9FGt9StE6PJrEyAYel4uh/fd0dS0m2gi7YpYfU7LDGYBKdgFOjaHPFgFFRehnmk4yxDFo7HoWYYjjXQaN3Yoq7aYHIbWDALtJ+KtoPSGSLhn4GUmAlUqWJpFsdRIqI0Ci5HAZTlDBZOJ4eyxVHQoGnrCsrib/QmaMiaDu9GAd40ZW3AOTq3YNE5uyZ1uqbA+BtBcYCyxTWeo7JeGqdJKHgSyjRhEWMJsLEktdYr9PFuVXGme/fTurJQVOTGybamQfK8KO1GZXVy0xjKmZBYNQ6yKcW6qE2hoAz6LAy2PujbYFqX3bI/O/mX/LzujMIzzPuhyhZ2RZbaVWtxOV+iJWvtXIOFFm1wR+DMTE3Q9Vq2INAtLJv5sqg6wsmNX9V/TQ1SJDqYsLtLkrRFtSjXIH/L98LHbEGWeHLjmJWfCSyXGt1TG43m7arP7l1hNjDz0b3wnymtPo+rYnFV0s86my2Wm6AoRGfpFJp+YKuPN98Zdbe1ipy+1z6RZQOmaDdpba4+FJUDchR8xNw+K5Fnm1Q/FlRynrpPUHaONbKD7qZXPM2y1zx8LdgFYxORTBh75fDyiJFbcC4p2UsSkESGGvIwyTMZSqYSkIKpnXV9rK+hUlRQ94v6eLEwuAC7vnz60lBNN6dzhZUf+q2rNpW5R+0rMHo99LDyD++X/2EB4CkWoVS5UImQLE5VglHM2IAoNrCcdy3q/zfPu1HwZEOMCYcx5ynLeAxCqDQcENmP6ufRIS+0owNElzZ5Xx7ZS4eYxhPMCCVt9KZXYOzB73s2O13S+/yPvey6A3ygzxQMTTikk2oRRankiqYdWlnGKk1hQDPOHj3xEteXB8DgF5gskjIMMxYyhkpphIQNie4fLzDRMCa/XUQNJI0dc/iWLHZ3XdmRZ4Pax/uY6fy/77+f1qXvPI5ai1xFUcKVjBnEPBnSPv5RnfcSp9gHUJzmUsgoYiqOxykyzpXAAVH8FE09PJ53o+DJzqMQZBymkYhTFFqzjMkBkb3HQvQS2X4ADJ5uFauEi5zFLE2Qx4oOvj/dpwhtZ/DX5jJD+HI0nf1xdEGb/f2eaZ8urnfvzz8cZGBnx6c/iuvXF/x3D57PUgj9o57T+RZisESz6N3WnW0bUDiDyr9Fb7yhAns9ogEqjXp9btz/ljfY/VegzZtqOr4C/FSTR5MaAAA=&quot;"/>
    <we:property name="creatorSessionId" value="&quot;9b0c294c-6b84-4425-ad55-a3254678cebd&quot;"/>
    <we:property name="creatorTenantId" value="&quot;aca51631-00fe-490d-91ab-163ef87260ee&quot;"/>
    <we:property name="creatorUserId" value="&quot;1003200216764C2C&quot;"/>
    <we:property name="datasetId" value="&quot;bf1c023b-df2c-4258-9975-8eac81a6f0e8&quot;"/>
    <we:property name="embedUrl" value="&quot;/reportEmbed?reportId=b5341f3d-2ba5-4a23-bd7b-4138cc383c7e&amp;config=eyJjbHVzdGVyVXJsIjoiaHR0cHM6Ly9XQUJJLVNPVVRILUNFTlRSQUwtVVMtQi1QUklNQVJZLXJlZGlyZWN0LmFuYWx5c2lzLndpbmRvd3MubmV0IiwiZW1iZWRGZWF0dXJlcyI6eyJ1c2FnZU1ldHJpY3NWTmV4dCI6dHJ1ZX19&amp;disableSensitivityBanner=true&amp;storytellingChangeViewModeShortcutKeys=true&quot;"/>
    <we:property name="initialStateBookmark" value="&quot;H4sIAAAAAAAAA+VZ32/TMBD+VyY/V8iOk8zdWylDQqNQbbAXhKqzfSmBNIkcZ6xM+9+5xJuA8aNbxUYz+tLkfPF9932+s6NcMJs3dQHrV7BCdsBm4AzYyu0JNmJlsD19/fpoNjk+WryazA7JXNU+r8qGHVwwD26J/jRvWii6Gcj47v2IQVHMYdndZVA0OGI1uqYqoci/YHCmIe9avBwxPK+LykE35YkHj920Z+RO9xRbPJEUEYzPz/AEjQ/WRKWRFGmkVcpjzlPg+5rcmuDQI/ulSzd1H35alR7yksJ0Nq1xLNEow9U4SeJUxiru7Fle+GuX9eF57Sg7ynldd6xMCeuycrmBgvVZOGwC6As2rYp21V8d/mA/qVpn8Bizfqj0uV/TTM268bharNDTbM3CgocGPbskcuauIup6L58TvR5W9WKVly3x1I1/qD5PHRISyw745XuyNHm5LK5I/pbvm4DZgy7w8LzTUH8ksrrU6JnKWXRP1312z3J3TbMY3YD/QGlRHuSjIwtZlGZjHWluUtCSm42iTOwZlIbYuKnIZLl0uAR/dXv/eZm6XdC1wTIMPW/La1q3EM6As1dDt9MuuqndbhEQJJaRNpk0qdQ8USbFOOF8QBI7WC3aBu3/rfNmFoLYkGAqYF8IxcciASmNigYk9p3qebTLu8RoB9mlQ8inO9bSLqZxDx2hoFPK9AM4v/Ob9vUxjfw+fncQu6qAAPSBwFDDIR9lZRwrLQy1HdpZ9o1SMKCOs0VNPMb95RY0hA1mHGsdRWMecY7GWISUD0nu328w8TCa3yahBpLGhh7+iyw2V13RUmSHNuC9Szv/9/X3x3UZKk+gtTIzcZwKoxMOiUiHdI6/U+U9xhZ7C4lVpqWOY26SZF8hF8JIHJDE91HUw9N5MwtB7CyOQCeRimWiUFrLx1wPSOwtNqLHqPYtaAhym8SkQmY84SpFkRj6ie3lniE0rcO/m8sc4dPedP527w0d9rd7p70/XM9enBztJLDjyex3uP7+gv/pxfNBFkL/qtf5fIPIVuiWfdiq9U0NBudQYg+3DhPl2PuRDFDajo/+2nX/L3Na8oGOUyjajon+EwbrgxBDuS5wwwPdhw3Ww+rBfQWJbkvfYxkAAA==&quot;"/>
    <we:property name="isFiltersActionButtonVisible" value="true"/>
    <we:property name="isVisualContainerHeaderHidden" value="false"/>
    <we:property name="pageDisplayName" value="&quot;Page 1&quot;"/>
    <we:property name="pageName" value="&quot;58623162b8604006a07b&quot;"/>
    <we:property name="reportEmbeddedTime" value="&quot;2026-01-17T13:43:52.788Z&quot;"/>
    <we:property name="reportName" value="&quot;PC_Performance&quot;"/>
    <we:property name="reportState" value="&quot;CONNECTED&quot;"/>
    <we:property name="reportUrl" value="&quot;/groups/me/reports/b5341f3d-2ba5-4a23-bd7b-4138cc383c7e/58623162b8604006a07b?bookmarkGuid=b219631c-a9c1-49d0-8c47-c173a3a6e65e&amp;bookmarkUsage=1&amp;ctid=aca51631-00fe-490d-91ab-163ef87260ee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6283731-47E9-4F14-86D1-57C1EA2672A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24D4B218-C04B-41F5-949D-06E9DAE96B0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1846AD4-435D-4592-8088-FE2831A30D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529</Words>
  <Application>Microsoft Office PowerPoint</Application>
  <PresentationFormat>Panorámica</PresentationFormat>
  <Paragraphs>174</Paragraphs>
  <Slides>16</Slides>
  <Notes>14</Notes>
  <HiddenSlides>1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Segoe UI Light</vt:lpstr>
      <vt:lpstr>Univers Light</vt:lpstr>
      <vt:lpstr>Walbaum Display Light</vt:lpstr>
      <vt:lpstr>AngleLinesVTI</vt:lpstr>
      <vt:lpstr>Digital Twin Project – Server Performance</vt:lpstr>
      <vt:lpstr>Index</vt:lpstr>
      <vt:lpstr>Problem &amp; Motivation</vt:lpstr>
      <vt:lpstr>Physical System &amp; DT Objective</vt:lpstr>
      <vt:lpstr>Data Sources &amp; Inputs</vt:lpstr>
      <vt:lpstr>Data Processing &amp; EDA</vt:lpstr>
      <vt:lpstr>Modeling Approach</vt:lpstr>
      <vt:lpstr>Digital Twin Architecture</vt:lpstr>
      <vt:lpstr>Results &amp; Visualization</vt:lpstr>
      <vt:lpstr>Presentación de PowerPoint</vt:lpstr>
      <vt:lpstr>Presentación de PowerPoint</vt:lpstr>
      <vt:lpstr>Digital Twin Integration</vt:lpstr>
      <vt:lpstr>Lessons Learned</vt:lpstr>
      <vt:lpstr>Limitations &amp; Improvements</vt:lpstr>
      <vt:lpstr>Conclusion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Harold Stiven Vargas Henao</cp:lastModifiedBy>
  <cp:revision>6</cp:revision>
  <dcterms:created xsi:type="dcterms:W3CDTF">2026-01-17T13:58:21Z</dcterms:created>
  <dcterms:modified xsi:type="dcterms:W3CDTF">2026-01-17T14:23:47Z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